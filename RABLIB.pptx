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24"/>
  </p:notesMasterIdLst>
  <p:handoutMasterIdLst>
    <p:handoutMasterId r:id="rId25"/>
  </p:handoutMasterIdLst>
  <p:sldIdLst>
    <p:sldId id="306" r:id="rId6"/>
    <p:sldId id="312" r:id="rId7"/>
    <p:sldId id="311" r:id="rId8"/>
    <p:sldId id="307" r:id="rId9"/>
    <p:sldId id="310" r:id="rId10"/>
    <p:sldId id="318" r:id="rId11"/>
    <p:sldId id="326" r:id="rId12"/>
    <p:sldId id="320" r:id="rId13"/>
    <p:sldId id="321" r:id="rId14"/>
    <p:sldId id="323" r:id="rId15"/>
    <p:sldId id="324" r:id="rId16"/>
    <p:sldId id="325" r:id="rId17"/>
    <p:sldId id="327" r:id="rId18"/>
    <p:sldId id="330" r:id="rId19"/>
    <p:sldId id="329" r:id="rId20"/>
    <p:sldId id="331" r:id="rId21"/>
    <p:sldId id="332" r:id="rId22"/>
    <p:sldId id="335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44A812-5119-4D2E-801D-49737A0685B0}">
          <p14:sldIdLst>
            <p14:sldId id="306"/>
            <p14:sldId id="312"/>
            <p14:sldId id="311"/>
            <p14:sldId id="307"/>
            <p14:sldId id="310"/>
            <p14:sldId id="318"/>
            <p14:sldId id="326"/>
            <p14:sldId id="320"/>
            <p14:sldId id="321"/>
            <p14:sldId id="323"/>
            <p14:sldId id="324"/>
            <p14:sldId id="325"/>
            <p14:sldId id="327"/>
            <p14:sldId id="330"/>
            <p14:sldId id="329"/>
            <p14:sldId id="331"/>
            <p14:sldId id="332"/>
            <p14:sldId id="33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1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00"/>
    <a:srgbClr val="37B0FB"/>
    <a:srgbClr val="FFD24A"/>
    <a:srgbClr val="5DC1FF"/>
    <a:srgbClr val="00658B"/>
    <a:srgbClr val="E8C220"/>
    <a:srgbClr val="009AD0"/>
    <a:srgbClr val="94B333"/>
    <a:srgbClr val="BE9600"/>
    <a:srgbClr val="BB93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47" y="86"/>
      </p:cViewPr>
      <p:guideLst>
        <p:guide orient="horz" pos="2160"/>
        <p:guide pos="41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5" d="100"/>
          <a:sy n="75" d="100"/>
        </p:scale>
        <p:origin x="1911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647EAA-31E1-4E86-BBFD-E6AF2CE161D7}" type="doc">
      <dgm:prSet loTypeId="urn:microsoft.com/office/officeart/2005/8/layout/orgChart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D4C861F-DE75-4BEA-B06A-EE0A87DFA68E}">
      <dgm:prSet phldrT="[Text]" custT="1"/>
      <dgm:spPr/>
      <dgm:t>
        <a:bodyPr/>
        <a:lstStyle/>
        <a:p>
          <a:r>
            <a:rPr lang="de-DE" sz="2200"/>
            <a:t>RAG</a:t>
          </a:r>
          <a:endParaRPr lang="de-DE" sz="2200" dirty="0"/>
        </a:p>
      </dgm:t>
    </dgm:pt>
    <dgm:pt modelId="{C7B09F82-DDF9-4E63-BFED-EA16C5584699}" type="parTrans" cxnId="{927C8389-D98B-473D-BC2B-12BB28843921}">
      <dgm:prSet/>
      <dgm:spPr/>
      <dgm:t>
        <a:bodyPr/>
        <a:lstStyle/>
        <a:p>
          <a:endParaRPr lang="de-DE"/>
        </a:p>
      </dgm:t>
    </dgm:pt>
    <dgm:pt modelId="{314F332F-DBE8-403B-B6B3-FC5FBB2EF2E8}" type="sibTrans" cxnId="{927C8389-D98B-473D-BC2B-12BB28843921}">
      <dgm:prSet/>
      <dgm:spPr/>
      <dgm:t>
        <a:bodyPr/>
        <a:lstStyle/>
        <a:p>
          <a:endParaRPr lang="de-DE"/>
        </a:p>
      </dgm:t>
    </dgm:pt>
    <dgm:pt modelId="{BA18F94A-45C5-4A03-90DB-DED1D49AE46B}" type="pres">
      <dgm:prSet presAssocID="{3C647EAA-31E1-4E86-BBFD-E6AF2CE161D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A8236D1-3854-4F17-A38A-371FF7C308D1}" type="pres">
      <dgm:prSet presAssocID="{7D4C861F-DE75-4BEA-B06A-EE0A87DFA68E}" presName="hierRoot1" presStyleCnt="0">
        <dgm:presLayoutVars>
          <dgm:hierBranch val="init"/>
        </dgm:presLayoutVars>
      </dgm:prSet>
      <dgm:spPr/>
    </dgm:pt>
    <dgm:pt modelId="{9F1CED99-F129-4F83-9E61-A40C67452D06}" type="pres">
      <dgm:prSet presAssocID="{7D4C861F-DE75-4BEA-B06A-EE0A87DFA68E}" presName="rootComposite1" presStyleCnt="0"/>
      <dgm:spPr/>
    </dgm:pt>
    <dgm:pt modelId="{471A68C2-9430-437D-AB04-001BB6AE55E0}" type="pres">
      <dgm:prSet presAssocID="{7D4C861F-DE75-4BEA-B06A-EE0A87DFA68E}" presName="rootText1" presStyleLbl="node0" presStyleIdx="0" presStyleCnt="1" custLinFactNeighborX="-20163" custLinFactNeighborY="42682">
        <dgm:presLayoutVars>
          <dgm:chPref val="3"/>
        </dgm:presLayoutVars>
      </dgm:prSet>
      <dgm:spPr/>
    </dgm:pt>
    <dgm:pt modelId="{56DD563D-66D1-4F53-BB66-5AC7A34C1616}" type="pres">
      <dgm:prSet presAssocID="{7D4C861F-DE75-4BEA-B06A-EE0A87DFA68E}" presName="rootConnector1" presStyleLbl="node1" presStyleIdx="0" presStyleCnt="0"/>
      <dgm:spPr/>
    </dgm:pt>
    <dgm:pt modelId="{0DBA5EC3-05A0-4F39-95C8-BC459E0CCAF4}" type="pres">
      <dgm:prSet presAssocID="{7D4C861F-DE75-4BEA-B06A-EE0A87DFA68E}" presName="hierChild2" presStyleCnt="0"/>
      <dgm:spPr/>
    </dgm:pt>
    <dgm:pt modelId="{01E4C8FC-B665-4706-B1EF-D537A8D90108}" type="pres">
      <dgm:prSet presAssocID="{7D4C861F-DE75-4BEA-B06A-EE0A87DFA68E}" presName="hierChild3" presStyleCnt="0"/>
      <dgm:spPr/>
    </dgm:pt>
  </dgm:ptLst>
  <dgm:cxnLst>
    <dgm:cxn modelId="{026EB83F-CAD1-4971-93CE-2AA553CDB81C}" type="presOf" srcId="{3C647EAA-31E1-4E86-BBFD-E6AF2CE161D7}" destId="{BA18F94A-45C5-4A03-90DB-DED1D49AE46B}" srcOrd="0" destOrd="0" presId="urn:microsoft.com/office/officeart/2005/8/layout/orgChart1"/>
    <dgm:cxn modelId="{E8E5BD61-0E15-43BD-B689-6B82B81E3E61}" type="presOf" srcId="{7D4C861F-DE75-4BEA-B06A-EE0A87DFA68E}" destId="{56DD563D-66D1-4F53-BB66-5AC7A34C1616}" srcOrd="1" destOrd="0" presId="urn:microsoft.com/office/officeart/2005/8/layout/orgChart1"/>
    <dgm:cxn modelId="{927C8389-D98B-473D-BC2B-12BB28843921}" srcId="{3C647EAA-31E1-4E86-BBFD-E6AF2CE161D7}" destId="{7D4C861F-DE75-4BEA-B06A-EE0A87DFA68E}" srcOrd="0" destOrd="0" parTransId="{C7B09F82-DDF9-4E63-BFED-EA16C5584699}" sibTransId="{314F332F-DBE8-403B-B6B3-FC5FBB2EF2E8}"/>
    <dgm:cxn modelId="{B3700CB0-F082-4CED-B37E-4853B9134A0E}" type="presOf" srcId="{7D4C861F-DE75-4BEA-B06A-EE0A87DFA68E}" destId="{471A68C2-9430-437D-AB04-001BB6AE55E0}" srcOrd="0" destOrd="0" presId="urn:microsoft.com/office/officeart/2005/8/layout/orgChart1"/>
    <dgm:cxn modelId="{D5CFAC49-0336-498D-9F2D-F1538D805814}" type="presParOf" srcId="{BA18F94A-45C5-4A03-90DB-DED1D49AE46B}" destId="{BA8236D1-3854-4F17-A38A-371FF7C308D1}" srcOrd="0" destOrd="0" presId="urn:microsoft.com/office/officeart/2005/8/layout/orgChart1"/>
    <dgm:cxn modelId="{BD852538-9B1A-4244-A434-7E6D585A271B}" type="presParOf" srcId="{BA8236D1-3854-4F17-A38A-371FF7C308D1}" destId="{9F1CED99-F129-4F83-9E61-A40C67452D06}" srcOrd="0" destOrd="0" presId="urn:microsoft.com/office/officeart/2005/8/layout/orgChart1"/>
    <dgm:cxn modelId="{71A0B4F7-F3F6-40AB-8912-7FC2B1D7C2C1}" type="presParOf" srcId="{9F1CED99-F129-4F83-9E61-A40C67452D06}" destId="{471A68C2-9430-437D-AB04-001BB6AE55E0}" srcOrd="0" destOrd="0" presId="urn:microsoft.com/office/officeart/2005/8/layout/orgChart1"/>
    <dgm:cxn modelId="{0455ED5D-3471-41B6-8BD0-F6945ABD10FF}" type="presParOf" srcId="{9F1CED99-F129-4F83-9E61-A40C67452D06}" destId="{56DD563D-66D1-4F53-BB66-5AC7A34C1616}" srcOrd="1" destOrd="0" presId="urn:microsoft.com/office/officeart/2005/8/layout/orgChart1"/>
    <dgm:cxn modelId="{FF7466DD-CCF5-4F5E-A0C5-6656D9619921}" type="presParOf" srcId="{BA8236D1-3854-4F17-A38A-371FF7C308D1}" destId="{0DBA5EC3-05A0-4F39-95C8-BC459E0CCAF4}" srcOrd="1" destOrd="0" presId="urn:microsoft.com/office/officeart/2005/8/layout/orgChart1"/>
    <dgm:cxn modelId="{E99FDD72-0C4D-44A8-AD50-9DB7DCE363FF}" type="presParOf" srcId="{BA8236D1-3854-4F17-A38A-371FF7C308D1}" destId="{01E4C8FC-B665-4706-B1EF-D537A8D9010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50A70E-324F-430C-91A9-6CC43BF6BC2B}" type="doc">
      <dgm:prSet loTypeId="urn:microsoft.com/office/officeart/2005/8/layout/hierarchy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6E9FA3EC-C2D9-4A1E-B188-59E8900CE2CA}">
      <dgm:prSet phldrT="[Text]" custT="1"/>
      <dgm:spPr/>
      <dgm:t>
        <a:bodyPr/>
        <a:lstStyle/>
        <a:p>
          <a:r>
            <a:rPr lang="de-DE" sz="1900" dirty="0" err="1"/>
            <a:t>IndexerEngine</a:t>
          </a:r>
          <a:endParaRPr lang="de-DE" sz="1900" dirty="0"/>
        </a:p>
      </dgm:t>
    </dgm:pt>
    <dgm:pt modelId="{7579F6B7-E25B-4BB4-9C39-C773319289A2}" type="parTrans" cxnId="{590CDE2D-7443-46AE-89C5-DE9569F49BCA}">
      <dgm:prSet/>
      <dgm:spPr/>
      <dgm:t>
        <a:bodyPr/>
        <a:lstStyle/>
        <a:p>
          <a:endParaRPr lang="de-DE" sz="1000"/>
        </a:p>
      </dgm:t>
    </dgm:pt>
    <dgm:pt modelId="{08FADFC3-3FFF-404A-B959-331859A89B5E}" type="sibTrans" cxnId="{590CDE2D-7443-46AE-89C5-DE9569F49BCA}">
      <dgm:prSet/>
      <dgm:spPr/>
      <dgm:t>
        <a:bodyPr/>
        <a:lstStyle/>
        <a:p>
          <a:endParaRPr lang="de-DE" sz="1000"/>
        </a:p>
      </dgm:t>
    </dgm:pt>
    <dgm:pt modelId="{08E1500B-0BC2-40AC-AAF2-82FA50DF0DA6}">
      <dgm:prSet phldrT="[Text]" custT="1"/>
      <dgm:spPr/>
      <dgm:t>
        <a:bodyPr/>
        <a:lstStyle/>
        <a:p>
          <a:pPr>
            <a:buNone/>
          </a:pPr>
          <a:r>
            <a:rPr lang="de-DE" sz="1000" b="1" dirty="0" err="1"/>
            <a:t>NaiveGraphRAGIndexer</a:t>
          </a:r>
          <a:endParaRPr lang="de-DE" sz="1000" b="1" dirty="0"/>
        </a:p>
      </dgm:t>
    </dgm:pt>
    <dgm:pt modelId="{016A6D71-0426-4292-A9F3-003B4BA45038}" type="parTrans" cxnId="{C5E82982-893E-4A47-9D5D-3921B0779F0C}">
      <dgm:prSet/>
      <dgm:spPr/>
      <dgm:t>
        <a:bodyPr/>
        <a:lstStyle/>
        <a:p>
          <a:endParaRPr lang="de-DE" sz="1000"/>
        </a:p>
      </dgm:t>
    </dgm:pt>
    <dgm:pt modelId="{48271B05-94E4-47FF-9CB7-99ADAF66D21E}" type="sibTrans" cxnId="{C5E82982-893E-4A47-9D5D-3921B0779F0C}">
      <dgm:prSet/>
      <dgm:spPr/>
      <dgm:t>
        <a:bodyPr/>
        <a:lstStyle/>
        <a:p>
          <a:endParaRPr lang="de-DE" sz="1000"/>
        </a:p>
      </dgm:t>
    </dgm:pt>
    <dgm:pt modelId="{4466E265-A955-4A4C-BEB4-4BF222789AF9}">
      <dgm:prSet phldrT="[Text]" custT="1"/>
      <dgm:spPr/>
      <dgm:t>
        <a:bodyPr/>
        <a:lstStyle/>
        <a:p>
          <a:pPr>
            <a:buNone/>
          </a:pPr>
          <a:r>
            <a:rPr lang="de-DE" sz="1000" b="1" dirty="0" err="1"/>
            <a:t>GARAGIndexer</a:t>
          </a:r>
          <a:endParaRPr lang="de-DE" sz="1000" b="1" dirty="0"/>
        </a:p>
      </dgm:t>
    </dgm:pt>
    <dgm:pt modelId="{EEDF5A66-C710-4B09-8A3C-4954816D220E}" type="parTrans" cxnId="{07E9367C-323C-4E1E-9DC0-3F44625D5EDE}">
      <dgm:prSet/>
      <dgm:spPr/>
      <dgm:t>
        <a:bodyPr/>
        <a:lstStyle/>
        <a:p>
          <a:endParaRPr lang="de-DE" sz="1000"/>
        </a:p>
      </dgm:t>
    </dgm:pt>
    <dgm:pt modelId="{D7B36CBE-A16C-4E07-9619-3C30B4217CAD}" type="sibTrans" cxnId="{07E9367C-323C-4E1E-9DC0-3F44625D5EDE}">
      <dgm:prSet/>
      <dgm:spPr/>
      <dgm:t>
        <a:bodyPr/>
        <a:lstStyle/>
        <a:p>
          <a:endParaRPr lang="de-DE" sz="1000"/>
        </a:p>
      </dgm:t>
    </dgm:pt>
    <dgm:pt modelId="{C1FD6710-4FC2-4BB2-90C7-E1F7C8E6C0F6}">
      <dgm:prSet phldrT="[Text]" custT="1"/>
      <dgm:spPr/>
      <dgm:t>
        <a:bodyPr/>
        <a:lstStyle/>
        <a:p>
          <a:r>
            <a:rPr lang="de-DE" sz="1900" dirty="0" err="1"/>
            <a:t>QueryEngine</a:t>
          </a:r>
          <a:endParaRPr lang="de-DE" sz="1900" dirty="0"/>
        </a:p>
      </dgm:t>
    </dgm:pt>
    <dgm:pt modelId="{497DA0EE-52A5-4B12-B575-BE84B4D42A05}" type="parTrans" cxnId="{AF5D9058-FB86-4534-8EE4-58234F824657}">
      <dgm:prSet/>
      <dgm:spPr/>
      <dgm:t>
        <a:bodyPr/>
        <a:lstStyle/>
        <a:p>
          <a:endParaRPr lang="de-DE" sz="1000"/>
        </a:p>
      </dgm:t>
    </dgm:pt>
    <dgm:pt modelId="{3D4997D1-020C-43C2-B368-5E17A537C306}" type="sibTrans" cxnId="{AF5D9058-FB86-4534-8EE4-58234F824657}">
      <dgm:prSet/>
      <dgm:spPr/>
      <dgm:t>
        <a:bodyPr/>
        <a:lstStyle/>
        <a:p>
          <a:endParaRPr lang="de-DE" sz="1000"/>
        </a:p>
      </dgm:t>
    </dgm:pt>
    <dgm:pt modelId="{38899007-0E7E-49BF-A686-3BFCAA5099A9}">
      <dgm:prSet phldrT="[Text]" custT="1"/>
      <dgm:spPr/>
      <dgm:t>
        <a:bodyPr/>
        <a:lstStyle/>
        <a:p>
          <a:pPr>
            <a:buNone/>
          </a:pPr>
          <a:r>
            <a:rPr lang="de-DE" sz="1000" b="1" dirty="0" err="1"/>
            <a:t>GraphRAGRetriever</a:t>
          </a:r>
          <a:endParaRPr lang="de-DE" sz="1000" b="1" dirty="0"/>
        </a:p>
      </dgm:t>
    </dgm:pt>
    <dgm:pt modelId="{98C95130-D58A-46D6-9EEC-1F29923E60D3}" type="parTrans" cxnId="{3CAB4533-C6BA-4E79-8215-A4A3F9D84AA9}">
      <dgm:prSet/>
      <dgm:spPr/>
      <dgm:t>
        <a:bodyPr/>
        <a:lstStyle/>
        <a:p>
          <a:endParaRPr lang="de-DE" sz="1000"/>
        </a:p>
      </dgm:t>
    </dgm:pt>
    <dgm:pt modelId="{95969E5D-E1DB-4322-AD01-B66D4F0A0DF7}" type="sibTrans" cxnId="{3CAB4533-C6BA-4E79-8215-A4A3F9D84AA9}">
      <dgm:prSet/>
      <dgm:spPr/>
      <dgm:t>
        <a:bodyPr/>
        <a:lstStyle/>
        <a:p>
          <a:endParaRPr lang="de-DE" sz="1000"/>
        </a:p>
      </dgm:t>
    </dgm:pt>
    <dgm:pt modelId="{FDF233EF-BC36-4B11-87D7-50E39B3CF377}">
      <dgm:prSet custT="1"/>
      <dgm:spPr/>
      <dgm:t>
        <a:bodyPr/>
        <a:lstStyle/>
        <a:p>
          <a:r>
            <a:rPr lang="de-DE" sz="1000" b="1" dirty="0" err="1"/>
            <a:t>VectorRAGIndexer</a:t>
          </a:r>
          <a:endParaRPr lang="de-DE" sz="1000" b="1" dirty="0"/>
        </a:p>
      </dgm:t>
    </dgm:pt>
    <dgm:pt modelId="{9DC790F5-72DE-4AAA-9EBD-10BC569B0B47}" type="parTrans" cxnId="{9258701C-8DA2-4424-BEE9-0A1BF017BB07}">
      <dgm:prSet/>
      <dgm:spPr/>
      <dgm:t>
        <a:bodyPr/>
        <a:lstStyle/>
        <a:p>
          <a:endParaRPr lang="de-DE" sz="1000"/>
        </a:p>
      </dgm:t>
    </dgm:pt>
    <dgm:pt modelId="{3F04AF6B-DF5B-4899-BBF0-C75C74D27952}" type="sibTrans" cxnId="{9258701C-8DA2-4424-BEE9-0A1BF017BB07}">
      <dgm:prSet/>
      <dgm:spPr/>
      <dgm:t>
        <a:bodyPr/>
        <a:lstStyle/>
        <a:p>
          <a:endParaRPr lang="de-DE" sz="1000"/>
        </a:p>
      </dgm:t>
    </dgm:pt>
    <dgm:pt modelId="{E0A06789-CE63-443C-8480-E69E6A009C71}">
      <dgm:prSet custT="1"/>
      <dgm:spPr/>
      <dgm:t>
        <a:bodyPr/>
        <a:lstStyle/>
        <a:p>
          <a:pPr>
            <a:buNone/>
          </a:pPr>
          <a:r>
            <a:rPr lang="de-DE" sz="1000" b="1" dirty="0" err="1"/>
            <a:t>GraphRAGIndexer</a:t>
          </a:r>
          <a:endParaRPr lang="de-DE" sz="1000" b="1" dirty="0"/>
        </a:p>
      </dgm:t>
    </dgm:pt>
    <dgm:pt modelId="{92E435D6-CDB6-4FF3-9866-B5C5F2F2D503}" type="parTrans" cxnId="{7F0C2769-33BC-45A7-993C-77AD749A9F64}">
      <dgm:prSet/>
      <dgm:spPr/>
      <dgm:t>
        <a:bodyPr/>
        <a:lstStyle/>
        <a:p>
          <a:endParaRPr lang="de-DE" sz="1000"/>
        </a:p>
      </dgm:t>
    </dgm:pt>
    <dgm:pt modelId="{8C0EAF5A-8645-4030-A1B3-8E5933258828}" type="sibTrans" cxnId="{7F0C2769-33BC-45A7-993C-77AD749A9F64}">
      <dgm:prSet/>
      <dgm:spPr/>
      <dgm:t>
        <a:bodyPr/>
        <a:lstStyle/>
        <a:p>
          <a:endParaRPr lang="de-DE" sz="1000"/>
        </a:p>
      </dgm:t>
    </dgm:pt>
    <dgm:pt modelId="{EA64C6D4-BDE2-403B-9606-52BEAA7641F7}">
      <dgm:prSet custT="1"/>
      <dgm:spPr/>
      <dgm:t>
        <a:bodyPr/>
        <a:lstStyle/>
        <a:p>
          <a:r>
            <a:rPr lang="de-DE" sz="1000" b="1" dirty="0" err="1"/>
            <a:t>NaiveGraphRAGRetriever</a:t>
          </a:r>
          <a:endParaRPr lang="de-DE" sz="1000" b="1" dirty="0"/>
        </a:p>
      </dgm:t>
    </dgm:pt>
    <dgm:pt modelId="{F28C6DCA-D723-44C2-8742-90BF9125E368}" type="parTrans" cxnId="{C5CF9EDE-5DB0-4405-B8D0-0E1BC5771793}">
      <dgm:prSet/>
      <dgm:spPr/>
      <dgm:t>
        <a:bodyPr/>
        <a:lstStyle/>
        <a:p>
          <a:endParaRPr lang="de-DE" sz="1000"/>
        </a:p>
      </dgm:t>
    </dgm:pt>
    <dgm:pt modelId="{F2E276EB-F0DB-4D7A-A41C-D14F0AF30F02}" type="sibTrans" cxnId="{C5CF9EDE-5DB0-4405-B8D0-0E1BC5771793}">
      <dgm:prSet/>
      <dgm:spPr/>
      <dgm:t>
        <a:bodyPr/>
        <a:lstStyle/>
        <a:p>
          <a:endParaRPr lang="de-DE" sz="1000"/>
        </a:p>
      </dgm:t>
    </dgm:pt>
    <dgm:pt modelId="{35BEE276-CCC0-43B1-A827-B4F0DC98D67A}">
      <dgm:prSet custT="1"/>
      <dgm:spPr/>
      <dgm:t>
        <a:bodyPr/>
        <a:lstStyle/>
        <a:p>
          <a:r>
            <a:rPr lang="de-DE" sz="1000" b="1" dirty="0" err="1"/>
            <a:t>GARAGRetriever</a:t>
          </a:r>
          <a:endParaRPr lang="de-DE" sz="1000" b="1" dirty="0"/>
        </a:p>
      </dgm:t>
    </dgm:pt>
    <dgm:pt modelId="{03BB2936-FD05-4CAF-BC82-B2D0178BA01B}" type="parTrans" cxnId="{0C4C3C2A-F6CE-44AE-86D8-3F94FC8F06D2}">
      <dgm:prSet/>
      <dgm:spPr/>
      <dgm:t>
        <a:bodyPr/>
        <a:lstStyle/>
        <a:p>
          <a:endParaRPr lang="de-DE" sz="1000"/>
        </a:p>
      </dgm:t>
    </dgm:pt>
    <dgm:pt modelId="{E14303B7-3673-4012-8144-C0F7F2DFEC6D}" type="sibTrans" cxnId="{0C4C3C2A-F6CE-44AE-86D8-3F94FC8F06D2}">
      <dgm:prSet/>
      <dgm:spPr/>
      <dgm:t>
        <a:bodyPr/>
        <a:lstStyle/>
        <a:p>
          <a:endParaRPr lang="de-DE" sz="1000"/>
        </a:p>
      </dgm:t>
    </dgm:pt>
    <dgm:pt modelId="{BE9A3EB9-DAE6-4812-889E-46CDADE8E61D}">
      <dgm:prSet custT="1"/>
      <dgm:spPr/>
      <dgm:t>
        <a:bodyPr/>
        <a:lstStyle/>
        <a:p>
          <a:r>
            <a:rPr lang="de-DE" sz="1000" b="1" dirty="0" err="1"/>
            <a:t>VectorRAGRetriever</a:t>
          </a:r>
          <a:endParaRPr lang="de-DE" sz="1000" b="1" dirty="0"/>
        </a:p>
      </dgm:t>
    </dgm:pt>
    <dgm:pt modelId="{EB29371F-EB45-4513-BEAF-641836EB91C3}" type="parTrans" cxnId="{DFC0C82E-815B-4F1D-8474-3053EDA69DB3}">
      <dgm:prSet/>
      <dgm:spPr/>
      <dgm:t>
        <a:bodyPr/>
        <a:lstStyle/>
        <a:p>
          <a:endParaRPr lang="de-DE" sz="1000"/>
        </a:p>
      </dgm:t>
    </dgm:pt>
    <dgm:pt modelId="{10A70499-1CFD-4038-9B64-6CC28713874F}" type="sibTrans" cxnId="{DFC0C82E-815B-4F1D-8474-3053EDA69DB3}">
      <dgm:prSet/>
      <dgm:spPr/>
      <dgm:t>
        <a:bodyPr/>
        <a:lstStyle/>
        <a:p>
          <a:endParaRPr lang="de-DE" sz="1000"/>
        </a:p>
      </dgm:t>
    </dgm:pt>
    <dgm:pt modelId="{F8615BBC-4A43-4519-944D-8BCC8E78FC1B}" type="pres">
      <dgm:prSet presAssocID="{F750A70E-324F-430C-91A9-6CC43BF6BC2B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E258C66-3CA6-4EDE-A24D-1DA9E5A3571A}" type="pres">
      <dgm:prSet presAssocID="{6E9FA3EC-C2D9-4A1E-B188-59E8900CE2CA}" presName="root" presStyleCnt="0"/>
      <dgm:spPr/>
    </dgm:pt>
    <dgm:pt modelId="{03F12AF0-3178-4C38-874C-3608A081290D}" type="pres">
      <dgm:prSet presAssocID="{6E9FA3EC-C2D9-4A1E-B188-59E8900CE2CA}" presName="rootComposite" presStyleCnt="0"/>
      <dgm:spPr/>
    </dgm:pt>
    <dgm:pt modelId="{F7B2EE03-7DCD-45FA-AC6F-8496BB6BD044}" type="pres">
      <dgm:prSet presAssocID="{6E9FA3EC-C2D9-4A1E-B188-59E8900CE2CA}" presName="rootText" presStyleLbl="node1" presStyleIdx="0" presStyleCnt="2" custScaleX="126561" custLinFactNeighborX="-875" custLinFactNeighborY="-349"/>
      <dgm:spPr/>
    </dgm:pt>
    <dgm:pt modelId="{5F5A5818-106D-49B6-8EAB-F92100E0AD83}" type="pres">
      <dgm:prSet presAssocID="{6E9FA3EC-C2D9-4A1E-B188-59E8900CE2CA}" presName="rootConnector" presStyleLbl="node1" presStyleIdx="0" presStyleCnt="2"/>
      <dgm:spPr/>
    </dgm:pt>
    <dgm:pt modelId="{CD0DDF1C-4103-43B4-B265-4AC94AA6FF9A}" type="pres">
      <dgm:prSet presAssocID="{6E9FA3EC-C2D9-4A1E-B188-59E8900CE2CA}" presName="childShape" presStyleCnt="0"/>
      <dgm:spPr/>
    </dgm:pt>
    <dgm:pt modelId="{23510C0D-342D-4EC7-9CC4-42FE97BC33E2}" type="pres">
      <dgm:prSet presAssocID="{016A6D71-0426-4292-A9F3-003B4BA45038}" presName="Name13" presStyleLbl="parChTrans1D2" presStyleIdx="0" presStyleCnt="8"/>
      <dgm:spPr/>
    </dgm:pt>
    <dgm:pt modelId="{EAE25385-C0CC-4B18-9090-25E33672A4FE}" type="pres">
      <dgm:prSet presAssocID="{08E1500B-0BC2-40AC-AAF2-82FA50DF0DA6}" presName="childText" presStyleLbl="bgAcc1" presStyleIdx="0" presStyleCnt="8" custScaleX="142110">
        <dgm:presLayoutVars>
          <dgm:bulletEnabled val="1"/>
        </dgm:presLayoutVars>
      </dgm:prSet>
      <dgm:spPr/>
    </dgm:pt>
    <dgm:pt modelId="{284910C6-7381-4FB5-99D9-DF8E948A0EB2}" type="pres">
      <dgm:prSet presAssocID="{92E435D6-CDB6-4FF3-9866-B5C5F2F2D503}" presName="Name13" presStyleLbl="parChTrans1D2" presStyleIdx="1" presStyleCnt="8"/>
      <dgm:spPr/>
    </dgm:pt>
    <dgm:pt modelId="{216643B6-4DBA-4043-BF67-CF5BE71640E6}" type="pres">
      <dgm:prSet presAssocID="{E0A06789-CE63-443C-8480-E69E6A009C71}" presName="childText" presStyleLbl="bgAcc1" presStyleIdx="1" presStyleCnt="8" custScaleX="139707" custLinFactNeighborX="-46" custLinFactNeighborY="869">
        <dgm:presLayoutVars>
          <dgm:bulletEnabled val="1"/>
        </dgm:presLayoutVars>
      </dgm:prSet>
      <dgm:spPr/>
    </dgm:pt>
    <dgm:pt modelId="{631588A1-01FA-4675-8489-7DBDC9F32A8E}" type="pres">
      <dgm:prSet presAssocID="{EEDF5A66-C710-4B09-8A3C-4954816D220E}" presName="Name13" presStyleLbl="parChTrans1D2" presStyleIdx="2" presStyleCnt="8"/>
      <dgm:spPr/>
    </dgm:pt>
    <dgm:pt modelId="{78CE354C-80AD-4674-A5AF-8ACB4194C44A}" type="pres">
      <dgm:prSet presAssocID="{4466E265-A955-4A4C-BEB4-4BF222789AF9}" presName="childText" presStyleLbl="bgAcc1" presStyleIdx="2" presStyleCnt="8" custScaleX="137804" custLinFactNeighborX="1630" custLinFactNeighborY="-1094">
        <dgm:presLayoutVars>
          <dgm:bulletEnabled val="1"/>
        </dgm:presLayoutVars>
      </dgm:prSet>
      <dgm:spPr/>
    </dgm:pt>
    <dgm:pt modelId="{950B4062-3411-4658-8723-D1C3B7B59D7B}" type="pres">
      <dgm:prSet presAssocID="{9DC790F5-72DE-4AAA-9EBD-10BC569B0B47}" presName="Name13" presStyleLbl="parChTrans1D2" presStyleIdx="3" presStyleCnt="8"/>
      <dgm:spPr/>
    </dgm:pt>
    <dgm:pt modelId="{85CFBB75-8786-41AE-8424-BC4A355A70CC}" type="pres">
      <dgm:prSet presAssocID="{FDF233EF-BC36-4B11-87D7-50E39B3CF377}" presName="childText" presStyleLbl="bgAcc1" presStyleIdx="3" presStyleCnt="8" custScaleX="141064">
        <dgm:presLayoutVars>
          <dgm:bulletEnabled val="1"/>
        </dgm:presLayoutVars>
      </dgm:prSet>
      <dgm:spPr/>
    </dgm:pt>
    <dgm:pt modelId="{BC274F47-0701-40A0-8295-EF25C0FB7DDC}" type="pres">
      <dgm:prSet presAssocID="{C1FD6710-4FC2-4BB2-90C7-E1F7C8E6C0F6}" presName="root" presStyleCnt="0"/>
      <dgm:spPr/>
    </dgm:pt>
    <dgm:pt modelId="{981D3F9E-FE9C-48CC-951C-EE3B4856D96F}" type="pres">
      <dgm:prSet presAssocID="{C1FD6710-4FC2-4BB2-90C7-E1F7C8E6C0F6}" presName="rootComposite" presStyleCnt="0"/>
      <dgm:spPr/>
    </dgm:pt>
    <dgm:pt modelId="{BDD24440-DF82-4326-ABDE-85471C35449C}" type="pres">
      <dgm:prSet presAssocID="{C1FD6710-4FC2-4BB2-90C7-E1F7C8E6C0F6}" presName="rootText" presStyleLbl="node1" presStyleIdx="1" presStyleCnt="2" custScaleX="123048"/>
      <dgm:spPr/>
    </dgm:pt>
    <dgm:pt modelId="{14C35F9C-6054-4667-BCBE-A2C58071E574}" type="pres">
      <dgm:prSet presAssocID="{C1FD6710-4FC2-4BB2-90C7-E1F7C8E6C0F6}" presName="rootConnector" presStyleLbl="node1" presStyleIdx="1" presStyleCnt="2"/>
      <dgm:spPr/>
    </dgm:pt>
    <dgm:pt modelId="{6B31A5B7-D3C8-461A-BF1E-6F1DF8F62600}" type="pres">
      <dgm:prSet presAssocID="{C1FD6710-4FC2-4BB2-90C7-E1F7C8E6C0F6}" presName="childShape" presStyleCnt="0"/>
      <dgm:spPr/>
    </dgm:pt>
    <dgm:pt modelId="{2B8B7B39-8C11-4786-B276-24996F064B3B}" type="pres">
      <dgm:prSet presAssocID="{98C95130-D58A-46D6-9EEC-1F29923E60D3}" presName="Name13" presStyleLbl="parChTrans1D2" presStyleIdx="4" presStyleCnt="8"/>
      <dgm:spPr/>
    </dgm:pt>
    <dgm:pt modelId="{13CD2E1E-BFC9-47BC-85BC-39F2F89FD0C6}" type="pres">
      <dgm:prSet presAssocID="{38899007-0E7E-49BF-A686-3BFCAA5099A9}" presName="childText" presStyleLbl="bgAcc1" presStyleIdx="4" presStyleCnt="8" custScaleX="144204">
        <dgm:presLayoutVars>
          <dgm:bulletEnabled val="1"/>
        </dgm:presLayoutVars>
      </dgm:prSet>
      <dgm:spPr/>
    </dgm:pt>
    <dgm:pt modelId="{2FAA3418-DA12-4C3D-AECB-6B5F87B646B4}" type="pres">
      <dgm:prSet presAssocID="{F28C6DCA-D723-44C2-8742-90BF9125E368}" presName="Name13" presStyleLbl="parChTrans1D2" presStyleIdx="5" presStyleCnt="8"/>
      <dgm:spPr/>
    </dgm:pt>
    <dgm:pt modelId="{106BC313-916E-4D80-A75E-831383BD4FBB}" type="pres">
      <dgm:prSet presAssocID="{EA64C6D4-BDE2-403B-9606-52BEAA7641F7}" presName="childText" presStyleLbl="bgAcc1" presStyleIdx="5" presStyleCnt="8" custScaleX="147115">
        <dgm:presLayoutVars>
          <dgm:bulletEnabled val="1"/>
        </dgm:presLayoutVars>
      </dgm:prSet>
      <dgm:spPr/>
    </dgm:pt>
    <dgm:pt modelId="{B7027B67-A55C-4B48-8B97-E076009A9A3D}" type="pres">
      <dgm:prSet presAssocID="{03BB2936-FD05-4CAF-BC82-B2D0178BA01B}" presName="Name13" presStyleLbl="parChTrans1D2" presStyleIdx="6" presStyleCnt="8"/>
      <dgm:spPr/>
    </dgm:pt>
    <dgm:pt modelId="{0A54B628-E1E7-4685-8114-F497728E526D}" type="pres">
      <dgm:prSet presAssocID="{35BEE276-CCC0-43B1-A827-B4F0DC98D67A}" presName="childText" presStyleLbl="bgAcc1" presStyleIdx="6" presStyleCnt="8" custScaleX="148468">
        <dgm:presLayoutVars>
          <dgm:bulletEnabled val="1"/>
        </dgm:presLayoutVars>
      </dgm:prSet>
      <dgm:spPr/>
    </dgm:pt>
    <dgm:pt modelId="{5AF154D2-D574-41DD-AAA4-670E82EC0A96}" type="pres">
      <dgm:prSet presAssocID="{EB29371F-EB45-4513-BEAF-641836EB91C3}" presName="Name13" presStyleLbl="parChTrans1D2" presStyleIdx="7" presStyleCnt="8"/>
      <dgm:spPr/>
    </dgm:pt>
    <dgm:pt modelId="{A708BAB2-3689-4BC2-BC44-68135E40C715}" type="pres">
      <dgm:prSet presAssocID="{BE9A3EB9-DAE6-4812-889E-46CDADE8E61D}" presName="childText" presStyleLbl="bgAcc1" presStyleIdx="7" presStyleCnt="8" custScaleX="147370">
        <dgm:presLayoutVars>
          <dgm:bulletEnabled val="1"/>
        </dgm:presLayoutVars>
      </dgm:prSet>
      <dgm:spPr/>
    </dgm:pt>
  </dgm:ptLst>
  <dgm:cxnLst>
    <dgm:cxn modelId="{3B097306-592F-434A-9E2A-175D20C8D409}" type="presOf" srcId="{92E435D6-CDB6-4FF3-9866-B5C5F2F2D503}" destId="{284910C6-7381-4FB5-99D9-DF8E948A0EB2}" srcOrd="0" destOrd="0" presId="urn:microsoft.com/office/officeart/2005/8/layout/hierarchy3"/>
    <dgm:cxn modelId="{B7C37411-4660-493E-BACA-A78B135C19F4}" type="presOf" srcId="{F750A70E-324F-430C-91A9-6CC43BF6BC2B}" destId="{F8615BBC-4A43-4519-944D-8BCC8E78FC1B}" srcOrd="0" destOrd="0" presId="urn:microsoft.com/office/officeart/2005/8/layout/hierarchy3"/>
    <dgm:cxn modelId="{34CA2712-036E-4DF2-B0A7-550DFD2DE0EB}" type="presOf" srcId="{E0A06789-CE63-443C-8480-E69E6A009C71}" destId="{216643B6-4DBA-4043-BF67-CF5BE71640E6}" srcOrd="0" destOrd="0" presId="urn:microsoft.com/office/officeart/2005/8/layout/hierarchy3"/>
    <dgm:cxn modelId="{B3504719-A419-4234-8B0B-3DBD3142701A}" type="presOf" srcId="{FDF233EF-BC36-4B11-87D7-50E39B3CF377}" destId="{85CFBB75-8786-41AE-8424-BC4A355A70CC}" srcOrd="0" destOrd="0" presId="urn:microsoft.com/office/officeart/2005/8/layout/hierarchy3"/>
    <dgm:cxn modelId="{9258701C-8DA2-4424-BEE9-0A1BF017BB07}" srcId="{6E9FA3EC-C2D9-4A1E-B188-59E8900CE2CA}" destId="{FDF233EF-BC36-4B11-87D7-50E39B3CF377}" srcOrd="3" destOrd="0" parTransId="{9DC790F5-72DE-4AAA-9EBD-10BC569B0B47}" sibTransId="{3F04AF6B-DF5B-4899-BBF0-C75C74D27952}"/>
    <dgm:cxn modelId="{0C4C3C2A-F6CE-44AE-86D8-3F94FC8F06D2}" srcId="{C1FD6710-4FC2-4BB2-90C7-E1F7C8E6C0F6}" destId="{35BEE276-CCC0-43B1-A827-B4F0DC98D67A}" srcOrd="2" destOrd="0" parTransId="{03BB2936-FD05-4CAF-BC82-B2D0178BA01B}" sibTransId="{E14303B7-3673-4012-8144-C0F7F2DFEC6D}"/>
    <dgm:cxn modelId="{590CDE2D-7443-46AE-89C5-DE9569F49BCA}" srcId="{F750A70E-324F-430C-91A9-6CC43BF6BC2B}" destId="{6E9FA3EC-C2D9-4A1E-B188-59E8900CE2CA}" srcOrd="0" destOrd="0" parTransId="{7579F6B7-E25B-4BB4-9C39-C773319289A2}" sibTransId="{08FADFC3-3FFF-404A-B959-331859A89B5E}"/>
    <dgm:cxn modelId="{DFC0C82E-815B-4F1D-8474-3053EDA69DB3}" srcId="{C1FD6710-4FC2-4BB2-90C7-E1F7C8E6C0F6}" destId="{BE9A3EB9-DAE6-4812-889E-46CDADE8E61D}" srcOrd="3" destOrd="0" parTransId="{EB29371F-EB45-4513-BEAF-641836EB91C3}" sibTransId="{10A70499-1CFD-4038-9B64-6CC28713874F}"/>
    <dgm:cxn modelId="{3CAB4533-C6BA-4E79-8215-A4A3F9D84AA9}" srcId="{C1FD6710-4FC2-4BB2-90C7-E1F7C8E6C0F6}" destId="{38899007-0E7E-49BF-A686-3BFCAA5099A9}" srcOrd="0" destOrd="0" parTransId="{98C95130-D58A-46D6-9EEC-1F29923E60D3}" sibTransId="{95969E5D-E1DB-4322-AD01-B66D4F0A0DF7}"/>
    <dgm:cxn modelId="{89F96B66-0040-4E8A-AFCA-5B9D24F9ECEF}" type="presOf" srcId="{35BEE276-CCC0-43B1-A827-B4F0DC98D67A}" destId="{0A54B628-E1E7-4685-8114-F497728E526D}" srcOrd="0" destOrd="0" presId="urn:microsoft.com/office/officeart/2005/8/layout/hierarchy3"/>
    <dgm:cxn modelId="{7F0C2769-33BC-45A7-993C-77AD749A9F64}" srcId="{6E9FA3EC-C2D9-4A1E-B188-59E8900CE2CA}" destId="{E0A06789-CE63-443C-8480-E69E6A009C71}" srcOrd="1" destOrd="0" parTransId="{92E435D6-CDB6-4FF3-9866-B5C5F2F2D503}" sibTransId="{8C0EAF5A-8645-4030-A1B3-8E5933258828}"/>
    <dgm:cxn modelId="{B04A3A4B-77F8-4E91-B4CF-CADF33FE14C0}" type="presOf" srcId="{BE9A3EB9-DAE6-4812-889E-46CDADE8E61D}" destId="{A708BAB2-3689-4BC2-BC44-68135E40C715}" srcOrd="0" destOrd="0" presId="urn:microsoft.com/office/officeart/2005/8/layout/hierarchy3"/>
    <dgm:cxn modelId="{608FB56C-FAB1-4743-95FB-9469DC0BC65E}" type="presOf" srcId="{F28C6DCA-D723-44C2-8742-90BF9125E368}" destId="{2FAA3418-DA12-4C3D-AECB-6B5F87B646B4}" srcOrd="0" destOrd="0" presId="urn:microsoft.com/office/officeart/2005/8/layout/hierarchy3"/>
    <dgm:cxn modelId="{FB2E8654-B486-4C0C-9E4F-8B28F37EE391}" type="presOf" srcId="{C1FD6710-4FC2-4BB2-90C7-E1F7C8E6C0F6}" destId="{14C35F9C-6054-4667-BCBE-A2C58071E574}" srcOrd="1" destOrd="0" presId="urn:microsoft.com/office/officeart/2005/8/layout/hierarchy3"/>
    <dgm:cxn modelId="{AF5D9058-FB86-4534-8EE4-58234F824657}" srcId="{F750A70E-324F-430C-91A9-6CC43BF6BC2B}" destId="{C1FD6710-4FC2-4BB2-90C7-E1F7C8E6C0F6}" srcOrd="1" destOrd="0" parTransId="{497DA0EE-52A5-4B12-B575-BE84B4D42A05}" sibTransId="{3D4997D1-020C-43C2-B368-5E17A537C306}"/>
    <dgm:cxn modelId="{08ACB45A-3BBC-4DE6-904B-AA9686A49A3B}" type="presOf" srcId="{EA64C6D4-BDE2-403B-9606-52BEAA7641F7}" destId="{106BC313-916E-4D80-A75E-831383BD4FBB}" srcOrd="0" destOrd="0" presId="urn:microsoft.com/office/officeart/2005/8/layout/hierarchy3"/>
    <dgm:cxn modelId="{07E9367C-323C-4E1E-9DC0-3F44625D5EDE}" srcId="{6E9FA3EC-C2D9-4A1E-B188-59E8900CE2CA}" destId="{4466E265-A955-4A4C-BEB4-4BF222789AF9}" srcOrd="2" destOrd="0" parTransId="{EEDF5A66-C710-4B09-8A3C-4954816D220E}" sibTransId="{D7B36CBE-A16C-4E07-9619-3C30B4217CAD}"/>
    <dgm:cxn modelId="{C5E82982-893E-4A47-9D5D-3921B0779F0C}" srcId="{6E9FA3EC-C2D9-4A1E-B188-59E8900CE2CA}" destId="{08E1500B-0BC2-40AC-AAF2-82FA50DF0DA6}" srcOrd="0" destOrd="0" parTransId="{016A6D71-0426-4292-A9F3-003B4BA45038}" sibTransId="{48271B05-94E4-47FF-9CB7-99ADAF66D21E}"/>
    <dgm:cxn modelId="{9E8AA995-2F56-40BB-8037-FB3694F0406E}" type="presOf" srcId="{08E1500B-0BC2-40AC-AAF2-82FA50DF0DA6}" destId="{EAE25385-C0CC-4B18-9090-25E33672A4FE}" srcOrd="0" destOrd="0" presId="urn:microsoft.com/office/officeart/2005/8/layout/hierarchy3"/>
    <dgm:cxn modelId="{32F389A6-D5BF-4D11-950D-C753950064B6}" type="presOf" srcId="{6E9FA3EC-C2D9-4A1E-B188-59E8900CE2CA}" destId="{F7B2EE03-7DCD-45FA-AC6F-8496BB6BD044}" srcOrd="0" destOrd="0" presId="urn:microsoft.com/office/officeart/2005/8/layout/hierarchy3"/>
    <dgm:cxn modelId="{7EB10BAA-657C-43B8-9756-473FAFB7FDE7}" type="presOf" srcId="{9DC790F5-72DE-4AAA-9EBD-10BC569B0B47}" destId="{950B4062-3411-4658-8723-D1C3B7B59D7B}" srcOrd="0" destOrd="0" presId="urn:microsoft.com/office/officeart/2005/8/layout/hierarchy3"/>
    <dgm:cxn modelId="{87B3B3AA-B3F4-46C8-89FB-C5AEF67EFE19}" type="presOf" srcId="{4466E265-A955-4A4C-BEB4-4BF222789AF9}" destId="{78CE354C-80AD-4674-A5AF-8ACB4194C44A}" srcOrd="0" destOrd="0" presId="urn:microsoft.com/office/officeart/2005/8/layout/hierarchy3"/>
    <dgm:cxn modelId="{98024BAD-9C8A-4F0B-BEF2-7DDBF0D9326B}" type="presOf" srcId="{38899007-0E7E-49BF-A686-3BFCAA5099A9}" destId="{13CD2E1E-BFC9-47BC-85BC-39F2F89FD0C6}" srcOrd="0" destOrd="0" presId="urn:microsoft.com/office/officeart/2005/8/layout/hierarchy3"/>
    <dgm:cxn modelId="{16B0C2B1-7D27-4D92-A94A-D3B0E19442E1}" type="presOf" srcId="{016A6D71-0426-4292-A9F3-003B4BA45038}" destId="{23510C0D-342D-4EC7-9CC4-42FE97BC33E2}" srcOrd="0" destOrd="0" presId="urn:microsoft.com/office/officeart/2005/8/layout/hierarchy3"/>
    <dgm:cxn modelId="{747D0DC5-4518-4295-B69D-435C2B08AA03}" type="presOf" srcId="{98C95130-D58A-46D6-9EEC-1F29923E60D3}" destId="{2B8B7B39-8C11-4786-B276-24996F064B3B}" srcOrd="0" destOrd="0" presId="urn:microsoft.com/office/officeart/2005/8/layout/hierarchy3"/>
    <dgm:cxn modelId="{F5B3E5D1-EC93-4D24-98FC-A236C043DABD}" type="presOf" srcId="{EEDF5A66-C710-4B09-8A3C-4954816D220E}" destId="{631588A1-01FA-4675-8489-7DBDC9F32A8E}" srcOrd="0" destOrd="0" presId="urn:microsoft.com/office/officeart/2005/8/layout/hierarchy3"/>
    <dgm:cxn modelId="{E4AFC6D6-461D-47D3-A9D8-8895859D48A9}" type="presOf" srcId="{EB29371F-EB45-4513-BEAF-641836EB91C3}" destId="{5AF154D2-D574-41DD-AAA4-670E82EC0A96}" srcOrd="0" destOrd="0" presId="urn:microsoft.com/office/officeart/2005/8/layout/hierarchy3"/>
    <dgm:cxn modelId="{C5CF9EDE-5DB0-4405-B8D0-0E1BC5771793}" srcId="{C1FD6710-4FC2-4BB2-90C7-E1F7C8E6C0F6}" destId="{EA64C6D4-BDE2-403B-9606-52BEAA7641F7}" srcOrd="1" destOrd="0" parTransId="{F28C6DCA-D723-44C2-8742-90BF9125E368}" sibTransId="{F2E276EB-F0DB-4D7A-A41C-D14F0AF30F02}"/>
    <dgm:cxn modelId="{C4B973E0-A535-48BB-AEAC-D53E062D9E2C}" type="presOf" srcId="{03BB2936-FD05-4CAF-BC82-B2D0178BA01B}" destId="{B7027B67-A55C-4B48-8B97-E076009A9A3D}" srcOrd="0" destOrd="0" presId="urn:microsoft.com/office/officeart/2005/8/layout/hierarchy3"/>
    <dgm:cxn modelId="{D91E3EE9-9DCD-4336-88FC-FE3E139F5F7D}" type="presOf" srcId="{6E9FA3EC-C2D9-4A1E-B188-59E8900CE2CA}" destId="{5F5A5818-106D-49B6-8EAB-F92100E0AD83}" srcOrd="1" destOrd="0" presId="urn:microsoft.com/office/officeart/2005/8/layout/hierarchy3"/>
    <dgm:cxn modelId="{8275F3FF-2BFF-42A9-869F-D77FFFE0BA09}" type="presOf" srcId="{C1FD6710-4FC2-4BB2-90C7-E1F7C8E6C0F6}" destId="{BDD24440-DF82-4326-ABDE-85471C35449C}" srcOrd="0" destOrd="0" presId="urn:microsoft.com/office/officeart/2005/8/layout/hierarchy3"/>
    <dgm:cxn modelId="{ECDB0C17-E06A-411F-92D0-C0260D715BC3}" type="presParOf" srcId="{F8615BBC-4A43-4519-944D-8BCC8E78FC1B}" destId="{5E258C66-3CA6-4EDE-A24D-1DA9E5A3571A}" srcOrd="0" destOrd="0" presId="urn:microsoft.com/office/officeart/2005/8/layout/hierarchy3"/>
    <dgm:cxn modelId="{7B9B599F-C93E-4059-937D-B2E243333A79}" type="presParOf" srcId="{5E258C66-3CA6-4EDE-A24D-1DA9E5A3571A}" destId="{03F12AF0-3178-4C38-874C-3608A081290D}" srcOrd="0" destOrd="0" presId="urn:microsoft.com/office/officeart/2005/8/layout/hierarchy3"/>
    <dgm:cxn modelId="{4E59882A-BB0A-4254-A50C-12C0F8FB8DDA}" type="presParOf" srcId="{03F12AF0-3178-4C38-874C-3608A081290D}" destId="{F7B2EE03-7DCD-45FA-AC6F-8496BB6BD044}" srcOrd="0" destOrd="0" presId="urn:microsoft.com/office/officeart/2005/8/layout/hierarchy3"/>
    <dgm:cxn modelId="{4821D510-D46E-42C7-A202-ADC73B95D155}" type="presParOf" srcId="{03F12AF0-3178-4C38-874C-3608A081290D}" destId="{5F5A5818-106D-49B6-8EAB-F92100E0AD83}" srcOrd="1" destOrd="0" presId="urn:microsoft.com/office/officeart/2005/8/layout/hierarchy3"/>
    <dgm:cxn modelId="{ADD3B223-9D77-483E-ACD2-4741CE46E8B3}" type="presParOf" srcId="{5E258C66-3CA6-4EDE-A24D-1DA9E5A3571A}" destId="{CD0DDF1C-4103-43B4-B265-4AC94AA6FF9A}" srcOrd="1" destOrd="0" presId="urn:microsoft.com/office/officeart/2005/8/layout/hierarchy3"/>
    <dgm:cxn modelId="{F1B5A48A-2E11-43E4-AED2-D116C0B79F16}" type="presParOf" srcId="{CD0DDF1C-4103-43B4-B265-4AC94AA6FF9A}" destId="{23510C0D-342D-4EC7-9CC4-42FE97BC33E2}" srcOrd="0" destOrd="0" presId="urn:microsoft.com/office/officeart/2005/8/layout/hierarchy3"/>
    <dgm:cxn modelId="{A7A30C37-96C8-4385-B27A-9961B43EABD3}" type="presParOf" srcId="{CD0DDF1C-4103-43B4-B265-4AC94AA6FF9A}" destId="{EAE25385-C0CC-4B18-9090-25E33672A4FE}" srcOrd="1" destOrd="0" presId="urn:microsoft.com/office/officeart/2005/8/layout/hierarchy3"/>
    <dgm:cxn modelId="{AD857F44-D79B-4031-AFA9-EBAA585BDA26}" type="presParOf" srcId="{CD0DDF1C-4103-43B4-B265-4AC94AA6FF9A}" destId="{284910C6-7381-4FB5-99D9-DF8E948A0EB2}" srcOrd="2" destOrd="0" presId="urn:microsoft.com/office/officeart/2005/8/layout/hierarchy3"/>
    <dgm:cxn modelId="{01C78EFC-8444-4092-8E7A-B6552A94B846}" type="presParOf" srcId="{CD0DDF1C-4103-43B4-B265-4AC94AA6FF9A}" destId="{216643B6-4DBA-4043-BF67-CF5BE71640E6}" srcOrd="3" destOrd="0" presId="urn:microsoft.com/office/officeart/2005/8/layout/hierarchy3"/>
    <dgm:cxn modelId="{16EB7C3C-3D39-4BCA-9C49-B0DAB9D8AFE8}" type="presParOf" srcId="{CD0DDF1C-4103-43B4-B265-4AC94AA6FF9A}" destId="{631588A1-01FA-4675-8489-7DBDC9F32A8E}" srcOrd="4" destOrd="0" presId="urn:microsoft.com/office/officeart/2005/8/layout/hierarchy3"/>
    <dgm:cxn modelId="{DAA7F13E-946C-4B29-8CC9-322BE1BA5163}" type="presParOf" srcId="{CD0DDF1C-4103-43B4-B265-4AC94AA6FF9A}" destId="{78CE354C-80AD-4674-A5AF-8ACB4194C44A}" srcOrd="5" destOrd="0" presId="urn:microsoft.com/office/officeart/2005/8/layout/hierarchy3"/>
    <dgm:cxn modelId="{DFF48501-0428-4EB1-B5DA-8DFA6D2F1429}" type="presParOf" srcId="{CD0DDF1C-4103-43B4-B265-4AC94AA6FF9A}" destId="{950B4062-3411-4658-8723-D1C3B7B59D7B}" srcOrd="6" destOrd="0" presId="urn:microsoft.com/office/officeart/2005/8/layout/hierarchy3"/>
    <dgm:cxn modelId="{F461AA08-1B95-4057-9A14-3F23529552B6}" type="presParOf" srcId="{CD0DDF1C-4103-43B4-B265-4AC94AA6FF9A}" destId="{85CFBB75-8786-41AE-8424-BC4A355A70CC}" srcOrd="7" destOrd="0" presId="urn:microsoft.com/office/officeart/2005/8/layout/hierarchy3"/>
    <dgm:cxn modelId="{93B46C89-4699-459D-9781-7404909CC597}" type="presParOf" srcId="{F8615BBC-4A43-4519-944D-8BCC8E78FC1B}" destId="{BC274F47-0701-40A0-8295-EF25C0FB7DDC}" srcOrd="1" destOrd="0" presId="urn:microsoft.com/office/officeart/2005/8/layout/hierarchy3"/>
    <dgm:cxn modelId="{0FDAE8F2-AF0A-428C-95A4-698FDD7C93FE}" type="presParOf" srcId="{BC274F47-0701-40A0-8295-EF25C0FB7DDC}" destId="{981D3F9E-FE9C-48CC-951C-EE3B4856D96F}" srcOrd="0" destOrd="0" presId="urn:microsoft.com/office/officeart/2005/8/layout/hierarchy3"/>
    <dgm:cxn modelId="{5FD37B92-7F80-408B-A0AE-440C1ED062E1}" type="presParOf" srcId="{981D3F9E-FE9C-48CC-951C-EE3B4856D96F}" destId="{BDD24440-DF82-4326-ABDE-85471C35449C}" srcOrd="0" destOrd="0" presId="urn:microsoft.com/office/officeart/2005/8/layout/hierarchy3"/>
    <dgm:cxn modelId="{6646E555-2063-4DF8-9206-349B22F82D81}" type="presParOf" srcId="{981D3F9E-FE9C-48CC-951C-EE3B4856D96F}" destId="{14C35F9C-6054-4667-BCBE-A2C58071E574}" srcOrd="1" destOrd="0" presId="urn:microsoft.com/office/officeart/2005/8/layout/hierarchy3"/>
    <dgm:cxn modelId="{164F2C62-0345-4597-BF90-452DD447A9D4}" type="presParOf" srcId="{BC274F47-0701-40A0-8295-EF25C0FB7DDC}" destId="{6B31A5B7-D3C8-461A-BF1E-6F1DF8F62600}" srcOrd="1" destOrd="0" presId="urn:microsoft.com/office/officeart/2005/8/layout/hierarchy3"/>
    <dgm:cxn modelId="{ACB1683F-AB32-4EEF-ABA9-AAC99959D3FE}" type="presParOf" srcId="{6B31A5B7-D3C8-461A-BF1E-6F1DF8F62600}" destId="{2B8B7B39-8C11-4786-B276-24996F064B3B}" srcOrd="0" destOrd="0" presId="urn:microsoft.com/office/officeart/2005/8/layout/hierarchy3"/>
    <dgm:cxn modelId="{34356DC4-D1B7-4422-8AA5-3179878D24F0}" type="presParOf" srcId="{6B31A5B7-D3C8-461A-BF1E-6F1DF8F62600}" destId="{13CD2E1E-BFC9-47BC-85BC-39F2F89FD0C6}" srcOrd="1" destOrd="0" presId="urn:microsoft.com/office/officeart/2005/8/layout/hierarchy3"/>
    <dgm:cxn modelId="{3DDAC895-7478-499E-BE87-7743D50353BA}" type="presParOf" srcId="{6B31A5B7-D3C8-461A-BF1E-6F1DF8F62600}" destId="{2FAA3418-DA12-4C3D-AECB-6B5F87B646B4}" srcOrd="2" destOrd="0" presId="urn:microsoft.com/office/officeart/2005/8/layout/hierarchy3"/>
    <dgm:cxn modelId="{4F3A95FA-7E0C-4B1C-98E4-494167E370B4}" type="presParOf" srcId="{6B31A5B7-D3C8-461A-BF1E-6F1DF8F62600}" destId="{106BC313-916E-4D80-A75E-831383BD4FBB}" srcOrd="3" destOrd="0" presId="urn:microsoft.com/office/officeart/2005/8/layout/hierarchy3"/>
    <dgm:cxn modelId="{40ABD998-8BB3-48B9-B353-7A55153E6AE2}" type="presParOf" srcId="{6B31A5B7-D3C8-461A-BF1E-6F1DF8F62600}" destId="{B7027B67-A55C-4B48-8B97-E076009A9A3D}" srcOrd="4" destOrd="0" presId="urn:microsoft.com/office/officeart/2005/8/layout/hierarchy3"/>
    <dgm:cxn modelId="{AD3958A2-BEFC-46A8-94DD-94938C6F1DC9}" type="presParOf" srcId="{6B31A5B7-D3C8-461A-BF1E-6F1DF8F62600}" destId="{0A54B628-E1E7-4685-8114-F497728E526D}" srcOrd="5" destOrd="0" presId="urn:microsoft.com/office/officeart/2005/8/layout/hierarchy3"/>
    <dgm:cxn modelId="{ED8AC10C-C15A-409E-9F21-7F1597A01A56}" type="presParOf" srcId="{6B31A5B7-D3C8-461A-BF1E-6F1DF8F62600}" destId="{5AF154D2-D574-41DD-AAA4-670E82EC0A96}" srcOrd="6" destOrd="0" presId="urn:microsoft.com/office/officeart/2005/8/layout/hierarchy3"/>
    <dgm:cxn modelId="{D3C08AF4-C4BA-4707-98CE-850848761EC8}" type="presParOf" srcId="{6B31A5B7-D3C8-461A-BF1E-6F1DF8F62600}" destId="{A708BAB2-3689-4BC2-BC44-68135E40C715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1A68C2-9430-437D-AB04-001BB6AE55E0}">
      <dsp:nvSpPr>
        <dsp:cNvPr id="0" name=""/>
        <dsp:cNvSpPr/>
      </dsp:nvSpPr>
      <dsp:spPr>
        <a:xfrm>
          <a:off x="0" y="579"/>
          <a:ext cx="1429599" cy="7147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RAG</a:t>
          </a:r>
          <a:endParaRPr lang="de-DE" sz="2200" kern="1200" dirty="0"/>
        </a:p>
      </dsp:txBody>
      <dsp:txXfrm>
        <a:off x="0" y="579"/>
        <a:ext cx="1429599" cy="7147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B2EE03-7DCD-45FA-AC6F-8496BB6BD044}">
      <dsp:nvSpPr>
        <dsp:cNvPr id="0" name=""/>
        <dsp:cNvSpPr/>
      </dsp:nvSpPr>
      <dsp:spPr>
        <a:xfrm>
          <a:off x="2254955" y="2"/>
          <a:ext cx="1706722" cy="6742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 err="1"/>
            <a:t>IndexerEngine</a:t>
          </a:r>
          <a:endParaRPr lang="de-DE" sz="1900" kern="1200" dirty="0"/>
        </a:p>
      </dsp:txBody>
      <dsp:txXfrm>
        <a:off x="2274704" y="19751"/>
        <a:ext cx="1667224" cy="634770"/>
      </dsp:txXfrm>
    </dsp:sp>
    <dsp:sp modelId="{23510C0D-342D-4EC7-9CC4-42FE97BC33E2}">
      <dsp:nvSpPr>
        <dsp:cNvPr id="0" name=""/>
        <dsp:cNvSpPr/>
      </dsp:nvSpPr>
      <dsp:spPr>
        <a:xfrm>
          <a:off x="2425627" y="674271"/>
          <a:ext cx="182471" cy="5080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8054"/>
              </a:lnTo>
              <a:lnTo>
                <a:pt x="182471" y="5080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E25385-C0CC-4B18-9090-25E33672A4FE}">
      <dsp:nvSpPr>
        <dsp:cNvPr id="0" name=""/>
        <dsp:cNvSpPr/>
      </dsp:nvSpPr>
      <dsp:spPr>
        <a:xfrm>
          <a:off x="2608099" y="845191"/>
          <a:ext cx="1533125" cy="6742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b="1" kern="1200" dirty="0" err="1"/>
            <a:t>NaiveGraphRAGIndexer</a:t>
          </a:r>
          <a:endParaRPr lang="de-DE" sz="1000" b="1" kern="1200" dirty="0"/>
        </a:p>
      </dsp:txBody>
      <dsp:txXfrm>
        <a:off x="2627848" y="864940"/>
        <a:ext cx="1493627" cy="634770"/>
      </dsp:txXfrm>
    </dsp:sp>
    <dsp:sp modelId="{284910C6-7381-4FB5-99D9-DF8E948A0EB2}">
      <dsp:nvSpPr>
        <dsp:cNvPr id="0" name=""/>
        <dsp:cNvSpPr/>
      </dsp:nvSpPr>
      <dsp:spPr>
        <a:xfrm>
          <a:off x="2425627" y="674271"/>
          <a:ext cx="181975" cy="1356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6749"/>
              </a:lnTo>
              <a:lnTo>
                <a:pt x="181975" y="1356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6643B6-4DBA-4043-BF67-CF5BE71640E6}">
      <dsp:nvSpPr>
        <dsp:cNvPr id="0" name=""/>
        <dsp:cNvSpPr/>
      </dsp:nvSpPr>
      <dsp:spPr>
        <a:xfrm>
          <a:off x="2607603" y="1693887"/>
          <a:ext cx="1507200" cy="6742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b="1" kern="1200" dirty="0" err="1"/>
            <a:t>GraphRAGIndexer</a:t>
          </a:r>
          <a:endParaRPr lang="de-DE" sz="1000" b="1" kern="1200" dirty="0"/>
        </a:p>
      </dsp:txBody>
      <dsp:txXfrm>
        <a:off x="2627352" y="1713636"/>
        <a:ext cx="1467702" cy="634770"/>
      </dsp:txXfrm>
    </dsp:sp>
    <dsp:sp modelId="{631588A1-01FA-4675-8489-7DBDC9F32A8E}">
      <dsp:nvSpPr>
        <dsp:cNvPr id="0" name=""/>
        <dsp:cNvSpPr/>
      </dsp:nvSpPr>
      <dsp:spPr>
        <a:xfrm>
          <a:off x="2425627" y="674271"/>
          <a:ext cx="200056" cy="21863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86349"/>
              </a:lnTo>
              <a:lnTo>
                <a:pt x="200056" y="21863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CE354C-80AD-4674-A5AF-8ACB4194C44A}">
      <dsp:nvSpPr>
        <dsp:cNvPr id="0" name=""/>
        <dsp:cNvSpPr/>
      </dsp:nvSpPr>
      <dsp:spPr>
        <a:xfrm>
          <a:off x="2625684" y="2523487"/>
          <a:ext cx="1486670" cy="6742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b="1" kern="1200" dirty="0" err="1"/>
            <a:t>GARAGIndexer</a:t>
          </a:r>
          <a:endParaRPr lang="de-DE" sz="1000" b="1" kern="1200" dirty="0"/>
        </a:p>
      </dsp:txBody>
      <dsp:txXfrm>
        <a:off x="2645433" y="2543236"/>
        <a:ext cx="1447172" cy="634770"/>
      </dsp:txXfrm>
    </dsp:sp>
    <dsp:sp modelId="{950B4062-3411-4658-8723-D1C3B7B59D7B}">
      <dsp:nvSpPr>
        <dsp:cNvPr id="0" name=""/>
        <dsp:cNvSpPr/>
      </dsp:nvSpPr>
      <dsp:spPr>
        <a:xfrm>
          <a:off x="2425627" y="674271"/>
          <a:ext cx="182471" cy="3036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36562"/>
              </a:lnTo>
              <a:lnTo>
                <a:pt x="182471" y="30365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CFBB75-8786-41AE-8424-BC4A355A70CC}">
      <dsp:nvSpPr>
        <dsp:cNvPr id="0" name=""/>
        <dsp:cNvSpPr/>
      </dsp:nvSpPr>
      <dsp:spPr>
        <a:xfrm>
          <a:off x="2608099" y="3373699"/>
          <a:ext cx="1521840" cy="6742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b="1" kern="1200" dirty="0" err="1"/>
            <a:t>VectorRAGIndexer</a:t>
          </a:r>
          <a:endParaRPr lang="de-DE" sz="1000" b="1" kern="1200" dirty="0"/>
        </a:p>
      </dsp:txBody>
      <dsp:txXfrm>
        <a:off x="2627848" y="3393448"/>
        <a:ext cx="1482342" cy="634770"/>
      </dsp:txXfrm>
    </dsp:sp>
    <dsp:sp modelId="{BDD24440-DF82-4326-ABDE-85471C35449C}">
      <dsp:nvSpPr>
        <dsp:cNvPr id="0" name=""/>
        <dsp:cNvSpPr/>
      </dsp:nvSpPr>
      <dsp:spPr>
        <a:xfrm>
          <a:off x="4310611" y="2355"/>
          <a:ext cx="1659348" cy="6742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 err="1"/>
            <a:t>QueryEngine</a:t>
          </a:r>
          <a:endParaRPr lang="de-DE" sz="1900" kern="1200" dirty="0"/>
        </a:p>
      </dsp:txBody>
      <dsp:txXfrm>
        <a:off x="4330360" y="22104"/>
        <a:ext cx="1619850" cy="634770"/>
      </dsp:txXfrm>
    </dsp:sp>
    <dsp:sp modelId="{2B8B7B39-8C11-4786-B276-24996F064B3B}">
      <dsp:nvSpPr>
        <dsp:cNvPr id="0" name=""/>
        <dsp:cNvSpPr/>
      </dsp:nvSpPr>
      <dsp:spPr>
        <a:xfrm>
          <a:off x="4476546" y="676624"/>
          <a:ext cx="165934" cy="5057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5701"/>
              </a:lnTo>
              <a:lnTo>
                <a:pt x="165934" y="50570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D2E1E-BFC9-47BC-85BC-39F2F89FD0C6}">
      <dsp:nvSpPr>
        <dsp:cNvPr id="0" name=""/>
        <dsp:cNvSpPr/>
      </dsp:nvSpPr>
      <dsp:spPr>
        <a:xfrm>
          <a:off x="4642481" y="845191"/>
          <a:ext cx="1555715" cy="6742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b="1" kern="1200" dirty="0" err="1"/>
            <a:t>GraphRAGRetriever</a:t>
          </a:r>
          <a:endParaRPr lang="de-DE" sz="1000" b="1" kern="1200" dirty="0"/>
        </a:p>
      </dsp:txBody>
      <dsp:txXfrm>
        <a:off x="4662230" y="864940"/>
        <a:ext cx="1516217" cy="634770"/>
      </dsp:txXfrm>
    </dsp:sp>
    <dsp:sp modelId="{2FAA3418-DA12-4C3D-AECB-6B5F87B646B4}">
      <dsp:nvSpPr>
        <dsp:cNvPr id="0" name=""/>
        <dsp:cNvSpPr/>
      </dsp:nvSpPr>
      <dsp:spPr>
        <a:xfrm>
          <a:off x="4476546" y="676624"/>
          <a:ext cx="165934" cy="13485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8537"/>
              </a:lnTo>
              <a:lnTo>
                <a:pt x="165934" y="134853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6BC313-916E-4D80-A75E-831383BD4FBB}">
      <dsp:nvSpPr>
        <dsp:cNvPr id="0" name=""/>
        <dsp:cNvSpPr/>
      </dsp:nvSpPr>
      <dsp:spPr>
        <a:xfrm>
          <a:off x="4642481" y="1688027"/>
          <a:ext cx="1587120" cy="6742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b="1" kern="1200" dirty="0" err="1"/>
            <a:t>NaiveGraphRAGRetriever</a:t>
          </a:r>
          <a:endParaRPr lang="de-DE" sz="1000" b="1" kern="1200" dirty="0"/>
        </a:p>
      </dsp:txBody>
      <dsp:txXfrm>
        <a:off x="4662230" y="1707776"/>
        <a:ext cx="1547622" cy="634770"/>
      </dsp:txXfrm>
    </dsp:sp>
    <dsp:sp modelId="{B7027B67-A55C-4B48-8B97-E076009A9A3D}">
      <dsp:nvSpPr>
        <dsp:cNvPr id="0" name=""/>
        <dsp:cNvSpPr/>
      </dsp:nvSpPr>
      <dsp:spPr>
        <a:xfrm>
          <a:off x="4476546" y="676624"/>
          <a:ext cx="165934" cy="21913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1373"/>
              </a:lnTo>
              <a:lnTo>
                <a:pt x="165934" y="21913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54B628-E1E7-4685-8114-F497728E526D}">
      <dsp:nvSpPr>
        <dsp:cNvPr id="0" name=""/>
        <dsp:cNvSpPr/>
      </dsp:nvSpPr>
      <dsp:spPr>
        <a:xfrm>
          <a:off x="4642481" y="2530863"/>
          <a:ext cx="1601717" cy="6742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b="1" kern="1200" dirty="0" err="1"/>
            <a:t>GARAGRetriever</a:t>
          </a:r>
          <a:endParaRPr lang="de-DE" sz="1000" b="1" kern="1200" dirty="0"/>
        </a:p>
      </dsp:txBody>
      <dsp:txXfrm>
        <a:off x="4662230" y="2550612"/>
        <a:ext cx="1562219" cy="634770"/>
      </dsp:txXfrm>
    </dsp:sp>
    <dsp:sp modelId="{5AF154D2-D574-41DD-AAA4-670E82EC0A96}">
      <dsp:nvSpPr>
        <dsp:cNvPr id="0" name=""/>
        <dsp:cNvSpPr/>
      </dsp:nvSpPr>
      <dsp:spPr>
        <a:xfrm>
          <a:off x="4476546" y="676624"/>
          <a:ext cx="165934" cy="30342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34209"/>
              </a:lnTo>
              <a:lnTo>
                <a:pt x="165934" y="30342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08BAB2-3689-4BC2-BC44-68135E40C715}">
      <dsp:nvSpPr>
        <dsp:cNvPr id="0" name=""/>
        <dsp:cNvSpPr/>
      </dsp:nvSpPr>
      <dsp:spPr>
        <a:xfrm>
          <a:off x="4642481" y="3373699"/>
          <a:ext cx="1589871" cy="6742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b="1" kern="1200" dirty="0" err="1"/>
            <a:t>VectorRAGRetriever</a:t>
          </a:r>
          <a:endParaRPr lang="de-DE" sz="1000" b="1" kern="1200" dirty="0"/>
        </a:p>
      </dsp:txBody>
      <dsp:txXfrm>
        <a:off x="4662230" y="3393448"/>
        <a:ext cx="1550373" cy="6347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3CC217A-F9D7-47C3-B542-AAA915BA41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E7CD6EC-38D3-4F9F-824F-27FD60C73D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980D6-5DF0-463D-BFB7-BC7EA5530348}" type="datetimeFigureOut">
              <a:rPr lang="de-DE" smtClean="0"/>
              <a:t>11.08.2025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D3B72A2-2A97-46A2-B0E6-3DFA689BB9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749A1E-B8C3-415F-AC4C-200E5AD788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9C69D-BBB7-4804-A517-DD8710202B5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558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35C94-B646-4D4D-A5E3-882C7E78FF5D}" type="datetimeFigureOut">
              <a:rPr lang="de-DE" smtClean="0"/>
              <a:t>11.08.2025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8433A-3D12-444A-8A1F-2969B3EF30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61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E292B943-63E8-4E1E-B31E-5FE3860900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5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6" y="3809454"/>
            <a:ext cx="9697665" cy="1141439"/>
          </a:xfr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txBody>
          <a:bodyPr lIns="288000" tIns="144000" rIns="432000" bIns="144000" anchor="ctr">
            <a:normAutofit/>
          </a:bodyPr>
          <a:lstStyle>
            <a:lvl1pPr marL="71755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323750"/>
            <a:ext cx="9541821" cy="3221856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5B16576-B954-4493-9E58-E9C5386E81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99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2F87A75-3F72-6661-3C8C-5F55ECF6EF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chemeClr val="accent1">
              <a:lumMod val="50000"/>
              <a:alpha val="80000"/>
            </a:scheme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53246B2-203D-4635-9023-C83C1FB1E1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4450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 1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574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</p:spTree>
    <p:extLst>
      <p:ext uri="{BB962C8B-B14F-4D97-AF65-F5344CB8AC3E}">
        <p14:creationId xmlns:p14="http://schemas.microsoft.com/office/powerpoint/2010/main" val="1051694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1A67A15-EB3D-B357-6153-033E99D342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7951DB75-C581-BF8A-0FC7-DF33D2FBE04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4066055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2C0EA8B-EF64-0432-2FB0-872635D2E4F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40475" y="1487788"/>
            <a:ext cx="5156200" cy="5036837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790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4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783FE90B-8144-4EE7-83DD-1BF890852B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chemeClr val="accent1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29131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5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5326" y="3041584"/>
            <a:ext cx="3482038" cy="191542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54981" y="3041584"/>
            <a:ext cx="3482038" cy="191542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14637" y="3041584"/>
            <a:ext cx="3482038" cy="191542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de-DE" dirty="0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B1415D85-ECEE-44AA-B226-4998B44E25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chemeClr val="accent1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923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bla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E454AC21-5CA9-4DCD-9E64-33EE941B0352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95325" y="1628776"/>
            <a:ext cx="10801350" cy="489585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7100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blau Mu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10" name="Tabellenplatzhalter 7">
            <a:extLst>
              <a:ext uri="{FF2B5EF4-FFF2-40B4-BE49-F238E27FC236}">
                <a16:creationId xmlns:a16="http://schemas.microsoft.com/office/drawing/2014/main" id="{1C20BEF9-F6A4-4E18-813E-7C7A4A89EFB4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136610939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DFA15C25-778F-45D2-A70E-06F46D1BF03A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Mustertabelle</a:t>
            </a:r>
          </a:p>
        </p:txBody>
      </p:sp>
    </p:spTree>
    <p:extLst>
      <p:ext uri="{BB962C8B-B14F-4D97-AF65-F5344CB8AC3E}">
        <p14:creationId xmlns:p14="http://schemas.microsoft.com/office/powerpoint/2010/main" val="349227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43B56E86-EFEB-4205-AA4A-9F3E82413F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5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6" y="3803209"/>
            <a:ext cx="9697665" cy="1141438"/>
          </a:xfrm>
          <a:solidFill>
            <a:schemeClr val="accent4">
              <a:lumMod val="50000"/>
              <a:alpha val="80000"/>
            </a:schemeClr>
          </a:solidFill>
        </p:spPr>
        <p:txBody>
          <a:bodyPr lIns="288000" tIns="144000" rIns="432000" bIns="144000" anchor="ctr">
            <a:normAutofit/>
          </a:bodyPr>
          <a:lstStyle>
            <a:lvl1pPr marL="717550" indent="0" algn="l">
              <a:lnSpc>
                <a:spcPct val="100000"/>
              </a:lnSpc>
              <a:spcBef>
                <a:spcPts val="100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333374"/>
            <a:ext cx="9541821" cy="3205985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34066C5-F371-4079-BEC5-D83B78D0CF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685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AF35D6C1-0699-3B81-DD6A-0016F7A8D7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chemeClr val="accent4">
              <a:lumMod val="50000"/>
              <a:alpha val="80000"/>
            </a:scheme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FBA6571-CE1B-47EB-8C1E-D5A1391EAE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4226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 1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300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</p:spTree>
    <p:extLst>
      <p:ext uri="{BB962C8B-B14F-4D97-AF65-F5344CB8AC3E}">
        <p14:creationId xmlns:p14="http://schemas.microsoft.com/office/powerpoint/2010/main" val="569630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BB571AC-F556-C50A-DAD2-4638503AA73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43C99AA0-30B9-CB68-5447-173C21DF9AC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4066055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E5E99BBD-0EE1-272A-B9CD-BB38CD6536A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40475" y="1487788"/>
            <a:ext cx="5156200" cy="5036837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126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4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B0949BCE-540C-4310-9432-ECBCD4F9E8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chemeClr val="accent4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1247385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5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5326" y="3041584"/>
            <a:ext cx="3482038" cy="191542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54981" y="3041584"/>
            <a:ext cx="3482038" cy="191542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14637" y="3041584"/>
            <a:ext cx="3482038" cy="191542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5" name="Textplatzhalter 20">
            <a:extLst>
              <a:ext uri="{FF2B5EF4-FFF2-40B4-BE49-F238E27FC236}">
                <a16:creationId xmlns:a16="http://schemas.microsoft.com/office/drawing/2014/main" id="{A1BCFDDC-E704-4456-842B-CA12D08661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chemeClr val="accent4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450049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grü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57BDB932-A261-4963-8CCA-D819AAB058CA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95325" y="1628776"/>
            <a:ext cx="10801350" cy="4895850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95776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grün Mu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10" name="Tabellenplatzhalter 7">
            <a:extLst>
              <a:ext uri="{FF2B5EF4-FFF2-40B4-BE49-F238E27FC236}">
                <a16:creationId xmlns:a16="http://schemas.microsoft.com/office/drawing/2014/main" id="{0D3ABB45-EB62-4087-B3EF-39BEE25E7081}"/>
              </a:ext>
            </a:extLst>
          </p:cNvPr>
          <p:cNvGraphicFramePr>
            <a:graphicFrameLocks/>
          </p:cNvGraphicFramePr>
          <p:nvPr userDrawn="1"/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3D336417-AA09-48C9-BDF2-558668A9C82D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Mustertabelle</a:t>
            </a:r>
          </a:p>
        </p:txBody>
      </p:sp>
    </p:spTree>
    <p:extLst>
      <p:ext uri="{BB962C8B-B14F-4D97-AF65-F5344CB8AC3E}">
        <p14:creationId xmlns:p14="http://schemas.microsoft.com/office/powerpoint/2010/main" val="11706335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A1DD6DF-B176-485D-B01F-0D026F51E4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6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6" y="3803208"/>
            <a:ext cx="9697665" cy="1141439"/>
          </a:xfrm>
          <a:solidFill>
            <a:srgbClr val="BE9600">
              <a:alpha val="80000"/>
            </a:srgbClr>
          </a:solidFill>
        </p:spPr>
        <p:txBody>
          <a:bodyPr lIns="288000" tIns="144000" rIns="432000" bIns="144000" anchor="ctr">
            <a:normAutofit/>
          </a:bodyPr>
          <a:lstStyle>
            <a:lvl1pPr marL="71755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333374"/>
            <a:ext cx="9541821" cy="3205985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379A18D-BDEC-4A1A-B4E8-0BBF0FB0AB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665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2">
            <a:extLst>
              <a:ext uri="{FF2B5EF4-FFF2-40B4-BE49-F238E27FC236}">
                <a16:creationId xmlns:a16="http://schemas.microsoft.com/office/drawing/2014/main" id="{A29A4717-2733-B1CC-C548-EE7EB957DA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rgbClr val="BE9600">
              <a:alpha val="80000"/>
            </a:srgb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E24BD797-BDE4-4F8B-BD63-88445F3046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5286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 1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920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</p:spTree>
    <p:extLst>
      <p:ext uri="{BB962C8B-B14F-4D97-AF65-F5344CB8AC3E}">
        <p14:creationId xmlns:p14="http://schemas.microsoft.com/office/powerpoint/2010/main" val="24862905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2095625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8187CB7-2C33-1C03-52A8-8996E6753E4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756228A2-CAF9-B1A1-1C97-DA91AB6BED6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4066055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CA1CEBC5-E31D-F865-99F9-F5B2C3A4B1C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40475" y="1487788"/>
            <a:ext cx="5156200" cy="5036837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33508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4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59E7F815-FED3-4D8F-9D9B-35CCAF3B26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rgbClr val="BE9600"/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4730136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5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5326" y="3041584"/>
            <a:ext cx="3482038" cy="191542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54981" y="3041584"/>
            <a:ext cx="3482038" cy="191542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14637" y="3041584"/>
            <a:ext cx="3482038" cy="191542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5" name="Textplatzhalter 20">
            <a:extLst>
              <a:ext uri="{FF2B5EF4-FFF2-40B4-BE49-F238E27FC236}">
                <a16:creationId xmlns:a16="http://schemas.microsoft.com/office/drawing/2014/main" id="{9D0FAF78-2A5F-4E8E-B1EE-D7C4255495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9" y="5245768"/>
            <a:ext cx="11208676" cy="1278857"/>
          </a:xfrm>
          <a:solidFill>
            <a:srgbClr val="BE9600"/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8484789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gel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A8D24D7-34CD-4ED1-8141-89BC9C1FC26A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95325" y="1628776"/>
            <a:ext cx="10801350" cy="489585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73541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gelb Mu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7" name="Tabellenplatzhalter 7">
            <a:extLst>
              <a:ext uri="{FF2B5EF4-FFF2-40B4-BE49-F238E27FC236}">
                <a16:creationId xmlns:a16="http://schemas.microsoft.com/office/drawing/2014/main" id="{215C28A5-80CD-4F42-9C77-C690E11449E6}"/>
              </a:ext>
            </a:extLst>
          </p:cNvPr>
          <p:cNvGraphicFramePr>
            <a:graphicFrameLocks/>
          </p:cNvGraphicFramePr>
          <p:nvPr userDrawn="1"/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Titel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598141AE-B519-4BF8-86A2-54973B0ADDE5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Mustertabelle</a:t>
            </a:r>
          </a:p>
        </p:txBody>
      </p:sp>
    </p:spTree>
    <p:extLst>
      <p:ext uri="{BB962C8B-B14F-4D97-AF65-F5344CB8AC3E}">
        <p14:creationId xmlns:p14="http://schemas.microsoft.com/office/powerpoint/2010/main" val="8641664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2">
            <a:extLst>
              <a:ext uri="{FF2B5EF4-FFF2-40B4-BE49-F238E27FC236}">
                <a16:creationId xmlns:a16="http://schemas.microsoft.com/office/drawing/2014/main" id="{C2226DF2-778A-4612-9F78-6765D18406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12192001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87F97911-DA70-4C70-822A-1814FBD79C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7EBD16-097C-4A05-9018-8E3005584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205778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CA21C0A-576F-4448-A405-945F7FEA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DA8A30-87AB-49C6-AE8C-F7B24CECF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628775"/>
            <a:ext cx="10801349" cy="4895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096809-C3E5-439C-AF0A-E75CD81D7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4386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50" r:id="rId3"/>
    <p:sldLayoutId id="2147483672" r:id="rId4"/>
    <p:sldLayoutId id="2147483674" r:id="rId5"/>
    <p:sldLayoutId id="2147483656" r:id="rId6"/>
    <p:sldLayoutId id="2147483653" r:id="rId7"/>
    <p:sldLayoutId id="2147483654" r:id="rId8"/>
    <p:sldLayoutId id="2147483679" r:id="rId9"/>
    <p:sldLayoutId id="2147483662" r:id="rId10"/>
    <p:sldLayoutId id="2147483658" r:id="rId11"/>
    <p:sldLayoutId id="2147483663" r:id="rId12"/>
    <p:sldLayoutId id="2147483671" r:id="rId13"/>
    <p:sldLayoutId id="2147483675" r:id="rId14"/>
    <p:sldLayoutId id="2147483664" r:id="rId15"/>
    <p:sldLayoutId id="2147483665" r:id="rId16"/>
    <p:sldLayoutId id="2147483670" r:id="rId17"/>
    <p:sldLayoutId id="2147483678" r:id="rId18"/>
    <p:sldLayoutId id="2147483661" r:id="rId19"/>
    <p:sldLayoutId id="2147483659" r:id="rId20"/>
    <p:sldLayoutId id="2147483667" r:id="rId21"/>
    <p:sldLayoutId id="2147483673" r:id="rId22"/>
    <p:sldLayoutId id="2147483676" r:id="rId23"/>
    <p:sldLayoutId id="2147483668" r:id="rId24"/>
    <p:sldLayoutId id="2147483669" r:id="rId25"/>
    <p:sldLayoutId id="2147483666" r:id="rId26"/>
    <p:sldLayoutId id="2147483677" r:id="rId27"/>
    <p:sldLayoutId id="2147483655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 userDrawn="1">
          <p15:clr>
            <a:srgbClr val="F26B43"/>
          </p15:clr>
        </p15:guide>
        <p15:guide id="2" orient="horz" pos="210" userDrawn="1">
          <p15:clr>
            <a:srgbClr val="F26B43"/>
          </p15:clr>
        </p15:guide>
        <p15:guide id="3" pos="7242" userDrawn="1">
          <p15:clr>
            <a:srgbClr val="F26B43"/>
          </p15:clr>
        </p15:guide>
        <p15:guide id="4" orient="horz" pos="1026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orient="horz" pos="9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1AA03A4A-FF3C-46DA-9AA7-9489606AA4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6" y="4515026"/>
            <a:ext cx="9705237" cy="541652"/>
          </a:xfrm>
        </p:spPr>
        <p:txBody>
          <a:bodyPr>
            <a:normAutofit/>
          </a:bodyPr>
          <a:lstStyle/>
          <a:p>
            <a:r>
              <a:rPr lang="de-DE" dirty="0"/>
              <a:t>Onur Koc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07DBA57-3752-430E-B30A-C895D1145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57200"/>
            <a:ext cx="12947651" cy="1758950"/>
          </a:xfrm>
        </p:spPr>
        <p:txBody>
          <a:bodyPr/>
          <a:lstStyle/>
          <a:p>
            <a:r>
              <a:rPr lang="en-US" sz="3300" dirty="0"/>
              <a:t>RAGLIB Project</a:t>
            </a:r>
            <a:endParaRPr lang="de-DE" sz="3300" b="0" dirty="0"/>
          </a:p>
        </p:txBody>
      </p:sp>
    </p:spTree>
    <p:extLst>
      <p:ext uri="{BB962C8B-B14F-4D97-AF65-F5344CB8AC3E}">
        <p14:creationId xmlns:p14="http://schemas.microsoft.com/office/powerpoint/2010/main" val="3642767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F7FD2-41FC-6E5F-BBCA-CCB635464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F43C7B08-7E08-A22F-6B23-DF548C34F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38" y="611758"/>
            <a:ext cx="2398964" cy="5746136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1C86CD9-54CB-EDE0-B3DA-B3E3F3686C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B83D686-6E2D-4CE7-1E7D-AFEA1AB350ED}"/>
              </a:ext>
            </a:extLst>
          </p:cNvPr>
          <p:cNvSpPr txBox="1"/>
          <p:nvPr/>
        </p:nvSpPr>
        <p:spPr>
          <a:xfrm>
            <a:off x="5540529" y="42632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 configurations regarding the creation of the documentation page and additional plug-ins</a:t>
            </a:r>
            <a:endParaRPr lang="de-DE" dirty="0"/>
          </a:p>
        </p:txBody>
      </p:sp>
      <p:sp>
        <p:nvSpPr>
          <p:cNvPr id="17" name="Pfeil: nach rechts 16">
            <a:extLst>
              <a:ext uri="{FF2B5EF4-FFF2-40B4-BE49-F238E27FC236}">
                <a16:creationId xmlns:a16="http://schemas.microsoft.com/office/drawing/2014/main" id="{509602CC-D635-C3D1-D417-7DEEB8496E3D}"/>
              </a:ext>
            </a:extLst>
          </p:cNvPr>
          <p:cNvSpPr/>
          <p:nvPr/>
        </p:nvSpPr>
        <p:spPr>
          <a:xfrm>
            <a:off x="2325353" y="4422503"/>
            <a:ext cx="3215176" cy="1172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476D0D3-4FF5-ABDD-9C64-40437FD41EF9}"/>
              </a:ext>
            </a:extLst>
          </p:cNvPr>
          <p:cNvSpPr txBox="1"/>
          <p:nvPr/>
        </p:nvSpPr>
        <p:spPr>
          <a:xfrm>
            <a:off x="5723892" y="653533"/>
            <a:ext cx="4063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 files related to the pages of the documentation site and the design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2893B70-3096-D908-96E7-664F08674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262" y="703386"/>
            <a:ext cx="2054307" cy="3559908"/>
          </a:xfrm>
          <a:prstGeom prst="rect">
            <a:avLst/>
          </a:prstGeom>
        </p:spPr>
      </p:pic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DC7392C5-F825-4DDB-5A53-290A07AF3E65}"/>
              </a:ext>
            </a:extLst>
          </p:cNvPr>
          <p:cNvCxnSpPr>
            <a:cxnSpLocks/>
          </p:cNvCxnSpPr>
          <p:nvPr/>
        </p:nvCxnSpPr>
        <p:spPr>
          <a:xfrm flipV="1">
            <a:off x="1624614" y="838200"/>
            <a:ext cx="1461648" cy="937334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3AB267DB-AFC8-643D-8E25-13C1AA40BBA2}"/>
              </a:ext>
            </a:extLst>
          </p:cNvPr>
          <p:cNvSpPr/>
          <p:nvPr/>
        </p:nvSpPr>
        <p:spPr>
          <a:xfrm>
            <a:off x="5140569" y="779584"/>
            <a:ext cx="560929" cy="1172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E619E3CF-84B4-14E1-960F-545AC2D28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3813"/>
            <a:ext cx="3575416" cy="587945"/>
          </a:xfrm>
        </p:spPr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Structure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56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65921-BBC4-2801-1789-658D49C57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212157F3-1D21-F46E-8915-0593FC0E3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38" y="611758"/>
            <a:ext cx="2398964" cy="574613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F77E276-B8E8-BD0E-6120-18AC1A766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477" y="3225707"/>
            <a:ext cx="1772310" cy="211669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9E982EF-1159-AA45-3BB5-8B116F182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840" y="287482"/>
            <a:ext cx="1998947" cy="2558652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E1B1E71-C575-DD59-E020-28FE4102E0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3</a:t>
            </a:fld>
            <a:endParaRPr lang="de-DE"/>
          </a:p>
        </p:txBody>
      </p:sp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2B55A17C-2A3C-2CCF-1D97-3CDEEB3E58B5}"/>
              </a:ext>
            </a:extLst>
          </p:cNvPr>
          <p:cNvCxnSpPr>
            <a:cxnSpLocks/>
          </p:cNvCxnSpPr>
          <p:nvPr/>
        </p:nvCxnSpPr>
        <p:spPr>
          <a:xfrm flipV="1">
            <a:off x="1686757" y="381740"/>
            <a:ext cx="2308194" cy="2041864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1189DB31-A081-9F05-F1F3-3F59B25E77DC}"/>
              </a:ext>
            </a:extLst>
          </p:cNvPr>
          <p:cNvSpPr txBox="1"/>
          <p:nvPr/>
        </p:nvSpPr>
        <p:spPr>
          <a:xfrm>
            <a:off x="6128551" y="719881"/>
            <a:ext cx="48453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500" dirty="0"/>
              <a:t>All </a:t>
            </a:r>
            <a:r>
              <a:rPr lang="de-DE" sz="1500" dirty="0" err="1"/>
              <a:t>files</a:t>
            </a:r>
            <a:r>
              <a:rPr lang="de-DE" sz="1500" dirty="0"/>
              <a:t> </a:t>
            </a:r>
            <a:r>
              <a:rPr lang="de-DE" sz="1500" dirty="0" err="1"/>
              <a:t>regarding</a:t>
            </a:r>
            <a:r>
              <a:rPr lang="de-DE" sz="1500" dirty="0"/>
              <a:t> </a:t>
            </a:r>
            <a:r>
              <a:rPr lang="de-DE" sz="1500" dirty="0" err="1"/>
              <a:t>the</a:t>
            </a:r>
            <a:r>
              <a:rPr lang="de-DE" sz="1500" dirty="0"/>
              <a:t> </a:t>
            </a:r>
            <a:r>
              <a:rPr lang="de-DE" sz="1500" dirty="0" err="1"/>
              <a:t>implementation</a:t>
            </a:r>
            <a:r>
              <a:rPr lang="de-DE" sz="1500" dirty="0"/>
              <a:t> </a:t>
            </a:r>
            <a:r>
              <a:rPr lang="de-DE" sz="1500" dirty="0" err="1"/>
              <a:t>of</a:t>
            </a:r>
            <a:r>
              <a:rPr lang="de-DE" sz="1500" dirty="0"/>
              <a:t> </a:t>
            </a:r>
            <a:r>
              <a:rPr lang="de-DE" sz="1500" dirty="0" err="1"/>
              <a:t>the</a:t>
            </a:r>
            <a:r>
              <a:rPr lang="de-DE" sz="1500" dirty="0"/>
              <a:t> rag </a:t>
            </a:r>
            <a:r>
              <a:rPr lang="de-DE" sz="1500" dirty="0" err="1"/>
              <a:t>techniques</a:t>
            </a:r>
            <a:endParaRPr lang="de-DE" sz="1500" dirty="0"/>
          </a:p>
        </p:txBody>
      </p:sp>
      <p:sp>
        <p:nvSpPr>
          <p:cNvPr id="33" name="Pfeil: nach rechts 32">
            <a:extLst>
              <a:ext uri="{FF2B5EF4-FFF2-40B4-BE49-F238E27FC236}">
                <a16:creationId xmlns:a16="http://schemas.microsoft.com/office/drawing/2014/main" id="{770A9DCF-5E79-123D-5A39-5211BC4E0A70}"/>
              </a:ext>
            </a:extLst>
          </p:cNvPr>
          <p:cNvSpPr/>
          <p:nvPr/>
        </p:nvSpPr>
        <p:spPr>
          <a:xfrm>
            <a:off x="5224678" y="863682"/>
            <a:ext cx="903874" cy="783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Pfeil: nach rechts 51">
            <a:extLst>
              <a:ext uri="{FF2B5EF4-FFF2-40B4-BE49-F238E27FC236}">
                <a16:creationId xmlns:a16="http://schemas.microsoft.com/office/drawing/2014/main" id="{A3AACC1A-6255-DEF2-5A84-C20BAC674C7C}"/>
              </a:ext>
            </a:extLst>
          </p:cNvPr>
          <p:cNvSpPr/>
          <p:nvPr/>
        </p:nvSpPr>
        <p:spPr>
          <a:xfrm>
            <a:off x="4900984" y="1646953"/>
            <a:ext cx="1312886" cy="783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C8FCB768-84B1-1B4C-57F9-7439705BEAED}"/>
              </a:ext>
            </a:extLst>
          </p:cNvPr>
          <p:cNvSpPr txBox="1"/>
          <p:nvPr/>
        </p:nvSpPr>
        <p:spPr>
          <a:xfrm>
            <a:off x="6207514" y="1548187"/>
            <a:ext cx="601304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500" dirty="0"/>
              <a:t>File </a:t>
            </a:r>
            <a:r>
              <a:rPr lang="de-DE" sz="1500" dirty="0" err="1"/>
              <a:t>parser</a:t>
            </a:r>
            <a:r>
              <a:rPr lang="de-DE" sz="1500" dirty="0"/>
              <a:t>, </a:t>
            </a:r>
            <a:r>
              <a:rPr lang="de-DE" sz="1500" dirty="0" err="1"/>
              <a:t>loader</a:t>
            </a:r>
            <a:r>
              <a:rPr lang="de-DE" sz="1500" dirty="0"/>
              <a:t> and </a:t>
            </a:r>
            <a:r>
              <a:rPr lang="de-DE" sz="1500" dirty="0" err="1"/>
              <a:t>clients</a:t>
            </a:r>
            <a:r>
              <a:rPr lang="de-DE" sz="1500" dirty="0"/>
              <a:t>: i.e. LLM Client, </a:t>
            </a:r>
            <a:r>
              <a:rPr lang="de-DE" sz="1500" dirty="0" err="1"/>
              <a:t>ArangoDB</a:t>
            </a:r>
            <a:r>
              <a:rPr lang="de-DE" sz="1500" dirty="0"/>
              <a:t> Client</a:t>
            </a:r>
          </a:p>
        </p:txBody>
      </p:sp>
      <p:sp>
        <p:nvSpPr>
          <p:cNvPr id="54" name="Pfeil: nach rechts 53">
            <a:extLst>
              <a:ext uri="{FF2B5EF4-FFF2-40B4-BE49-F238E27FC236}">
                <a16:creationId xmlns:a16="http://schemas.microsoft.com/office/drawing/2014/main" id="{5132A661-AC19-C765-C9C5-AF7C70CE4AE6}"/>
              </a:ext>
            </a:extLst>
          </p:cNvPr>
          <p:cNvSpPr/>
          <p:nvPr/>
        </p:nvSpPr>
        <p:spPr>
          <a:xfrm>
            <a:off x="5389556" y="3659703"/>
            <a:ext cx="1257569" cy="904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Pfeil: nach rechts 54">
            <a:extLst>
              <a:ext uri="{FF2B5EF4-FFF2-40B4-BE49-F238E27FC236}">
                <a16:creationId xmlns:a16="http://schemas.microsoft.com/office/drawing/2014/main" id="{8845ACF9-3496-B487-8E69-A2A65C21B8C8}"/>
              </a:ext>
            </a:extLst>
          </p:cNvPr>
          <p:cNvSpPr/>
          <p:nvPr/>
        </p:nvSpPr>
        <p:spPr>
          <a:xfrm>
            <a:off x="5588948" y="3943050"/>
            <a:ext cx="1058177" cy="783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Pfeil: nach rechts 55">
            <a:extLst>
              <a:ext uri="{FF2B5EF4-FFF2-40B4-BE49-F238E27FC236}">
                <a16:creationId xmlns:a16="http://schemas.microsoft.com/office/drawing/2014/main" id="{0C4C281B-B614-DD44-2F26-DE3339928185}"/>
              </a:ext>
            </a:extLst>
          </p:cNvPr>
          <p:cNvSpPr/>
          <p:nvPr/>
        </p:nvSpPr>
        <p:spPr>
          <a:xfrm>
            <a:off x="5389556" y="4258007"/>
            <a:ext cx="1257569" cy="904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D8CEFA44-1B46-A297-CB09-0661583D799F}"/>
              </a:ext>
            </a:extLst>
          </p:cNvPr>
          <p:cNvSpPr txBox="1"/>
          <p:nvPr/>
        </p:nvSpPr>
        <p:spPr>
          <a:xfrm>
            <a:off x="6598631" y="3510460"/>
            <a:ext cx="473540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500" dirty="0"/>
              <a:t>Code </a:t>
            </a:r>
            <a:r>
              <a:rPr lang="de-DE" sz="1500" dirty="0" err="1"/>
              <a:t>regarding</a:t>
            </a:r>
            <a:r>
              <a:rPr lang="de-DE" sz="1500" dirty="0"/>
              <a:t> </a:t>
            </a:r>
            <a:r>
              <a:rPr lang="de-DE" sz="1500" dirty="0" err="1"/>
              <a:t>the</a:t>
            </a:r>
            <a:r>
              <a:rPr lang="de-DE" sz="1500" dirty="0"/>
              <a:t> </a:t>
            </a:r>
            <a:r>
              <a:rPr lang="de-DE" sz="1500" dirty="0" err="1"/>
              <a:t>graph</a:t>
            </a:r>
            <a:r>
              <a:rPr lang="de-DE" sz="1500" dirty="0"/>
              <a:t> </a:t>
            </a:r>
            <a:r>
              <a:rPr lang="de-DE" sz="1500" dirty="0" err="1"/>
              <a:t>construction</a:t>
            </a:r>
            <a:r>
              <a:rPr lang="de-DE" sz="1500" dirty="0"/>
              <a:t> (</a:t>
            </a:r>
            <a:r>
              <a:rPr lang="de-DE" sz="1500" b="1" dirty="0" err="1"/>
              <a:t>indexing</a:t>
            </a:r>
            <a:r>
              <a:rPr lang="de-DE" sz="1500" b="1" dirty="0"/>
              <a:t> </a:t>
            </a:r>
            <a:r>
              <a:rPr lang="de-DE" sz="1500" b="1" dirty="0" err="1"/>
              <a:t>phase</a:t>
            </a:r>
            <a:r>
              <a:rPr lang="de-DE" sz="1500" dirty="0"/>
              <a:t>)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A278220A-68D0-2097-64AC-9762FBA87FD7}"/>
              </a:ext>
            </a:extLst>
          </p:cNvPr>
          <p:cNvSpPr txBox="1"/>
          <p:nvPr/>
        </p:nvSpPr>
        <p:spPr>
          <a:xfrm>
            <a:off x="6598630" y="3816346"/>
            <a:ext cx="473540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LLM Prompt templates and output formats</a:t>
            </a:r>
            <a:endParaRPr lang="de-DE" sz="1500" dirty="0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60E0BE4E-74C9-31DF-3BBC-E3D66D39967C}"/>
              </a:ext>
            </a:extLst>
          </p:cNvPr>
          <p:cNvSpPr txBox="1"/>
          <p:nvPr/>
        </p:nvSpPr>
        <p:spPr>
          <a:xfrm>
            <a:off x="6598631" y="4133067"/>
            <a:ext cx="530603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Code regarding KG retrieval to generate an answer (</a:t>
            </a:r>
            <a:r>
              <a:rPr lang="en-US" sz="1500" b="1" dirty="0"/>
              <a:t>query phase</a:t>
            </a:r>
            <a:r>
              <a:rPr lang="en-US" sz="1500" dirty="0"/>
              <a:t>)</a:t>
            </a:r>
            <a:endParaRPr lang="de-DE" sz="1500" dirty="0"/>
          </a:p>
        </p:txBody>
      </p:sp>
      <p:sp>
        <p:nvSpPr>
          <p:cNvPr id="2" name="Titel 3">
            <a:extLst>
              <a:ext uri="{FF2B5EF4-FFF2-40B4-BE49-F238E27FC236}">
                <a16:creationId xmlns:a16="http://schemas.microsoft.com/office/drawing/2014/main" id="{6DF5547F-8B3A-5ACA-37C8-16F98376E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3813"/>
            <a:ext cx="3575416" cy="587945"/>
          </a:xfrm>
        </p:spPr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Structure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BCED884-F5BC-FF1F-96CD-2FBBD1DCF25B}"/>
              </a:ext>
            </a:extLst>
          </p:cNvPr>
          <p:cNvSpPr txBox="1"/>
          <p:nvPr/>
        </p:nvSpPr>
        <p:spPr>
          <a:xfrm>
            <a:off x="6598630" y="3189289"/>
            <a:ext cx="372029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500" dirty="0"/>
              <a:t>Graph-</a:t>
            </a:r>
            <a:r>
              <a:rPr lang="de-DE" sz="1500" dirty="0" err="1"/>
              <a:t>based</a:t>
            </a:r>
            <a:r>
              <a:rPr lang="de-DE" sz="1500" dirty="0"/>
              <a:t> </a:t>
            </a:r>
            <a:r>
              <a:rPr lang="de-DE" sz="1500" dirty="0" err="1"/>
              <a:t>indexing</a:t>
            </a:r>
            <a:r>
              <a:rPr lang="de-DE" sz="1500" dirty="0"/>
              <a:t> &amp; </a:t>
            </a:r>
            <a:r>
              <a:rPr lang="de-DE" sz="1500" dirty="0" err="1"/>
              <a:t>retrieval</a:t>
            </a:r>
            <a:r>
              <a:rPr lang="de-DE" sz="1500" dirty="0"/>
              <a:t> </a:t>
            </a:r>
            <a:r>
              <a:rPr lang="de-DE" sz="1500" dirty="0" err="1"/>
              <a:t>techniques</a:t>
            </a:r>
            <a:endParaRPr lang="de-DE" sz="1500" dirty="0"/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809AC037-73BC-46D9-A67B-E3F7A33277A5}"/>
              </a:ext>
            </a:extLst>
          </p:cNvPr>
          <p:cNvSpPr/>
          <p:nvPr/>
        </p:nvSpPr>
        <p:spPr>
          <a:xfrm>
            <a:off x="5465220" y="3360551"/>
            <a:ext cx="1181906" cy="904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Pfeil: nach rechts gekrümmt 30">
            <a:extLst>
              <a:ext uri="{FF2B5EF4-FFF2-40B4-BE49-F238E27FC236}">
                <a16:creationId xmlns:a16="http://schemas.microsoft.com/office/drawing/2014/main" id="{C22BA5B4-A65A-6CFE-F4D3-9D0736CF0D63}"/>
              </a:ext>
            </a:extLst>
          </p:cNvPr>
          <p:cNvSpPr/>
          <p:nvPr/>
        </p:nvSpPr>
        <p:spPr>
          <a:xfrm>
            <a:off x="3356594" y="855970"/>
            <a:ext cx="731520" cy="2734267"/>
          </a:xfrm>
          <a:prstGeom prst="curvedRightArrow">
            <a:avLst>
              <a:gd name="adj1" fmla="val 10621"/>
              <a:gd name="adj2" fmla="val 50000"/>
              <a:gd name="adj3" fmla="val 3443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4" name="Pfeil: nach rechts 33">
            <a:extLst>
              <a:ext uri="{FF2B5EF4-FFF2-40B4-BE49-F238E27FC236}">
                <a16:creationId xmlns:a16="http://schemas.microsoft.com/office/drawing/2014/main" id="{E7F793EC-B760-D899-5ECB-170E69A46A49}"/>
              </a:ext>
            </a:extLst>
          </p:cNvPr>
          <p:cNvSpPr/>
          <p:nvPr/>
        </p:nvSpPr>
        <p:spPr>
          <a:xfrm>
            <a:off x="5732120" y="4853645"/>
            <a:ext cx="915005" cy="904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Pfeil: nach rechts 34">
            <a:extLst>
              <a:ext uri="{FF2B5EF4-FFF2-40B4-BE49-F238E27FC236}">
                <a16:creationId xmlns:a16="http://schemas.microsoft.com/office/drawing/2014/main" id="{9054BF20-FFA9-55E0-4933-DA3C232B6308}"/>
              </a:ext>
            </a:extLst>
          </p:cNvPr>
          <p:cNvSpPr/>
          <p:nvPr/>
        </p:nvSpPr>
        <p:spPr>
          <a:xfrm>
            <a:off x="5756368" y="5135050"/>
            <a:ext cx="915005" cy="1015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5C78295A-8E87-B2F1-C355-D662636DD743}"/>
              </a:ext>
            </a:extLst>
          </p:cNvPr>
          <p:cNvSpPr txBox="1"/>
          <p:nvPr/>
        </p:nvSpPr>
        <p:spPr>
          <a:xfrm>
            <a:off x="6647125" y="4731362"/>
            <a:ext cx="372029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500" dirty="0"/>
              <a:t> </a:t>
            </a:r>
            <a:r>
              <a:rPr lang="de-DE" sz="1500" dirty="0" err="1"/>
              <a:t>Indexing</a:t>
            </a:r>
            <a:r>
              <a:rPr lang="de-DE" sz="1500" dirty="0"/>
              <a:t> </a:t>
            </a:r>
            <a:r>
              <a:rPr lang="de-DE" sz="1500" dirty="0" err="1"/>
              <a:t>classes</a:t>
            </a:r>
            <a:r>
              <a:rPr lang="de-DE" sz="1500" dirty="0"/>
              <a:t> </a:t>
            </a:r>
            <a:r>
              <a:rPr lang="de-DE" sz="1500" dirty="0" err="1"/>
              <a:t>for</a:t>
            </a:r>
            <a:r>
              <a:rPr lang="de-DE" sz="1500" dirty="0"/>
              <a:t> </a:t>
            </a:r>
            <a:r>
              <a:rPr lang="de-DE" sz="1500" dirty="0" err="1"/>
              <a:t>each</a:t>
            </a:r>
            <a:r>
              <a:rPr lang="de-DE" sz="1500" dirty="0"/>
              <a:t> </a:t>
            </a:r>
            <a:r>
              <a:rPr lang="de-DE" sz="1500" dirty="0" err="1"/>
              <a:t>technique</a:t>
            </a:r>
            <a:endParaRPr lang="de-DE" sz="1500" dirty="0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4C40DB76-3284-BAF3-9DBF-A24FDD7F5719}"/>
              </a:ext>
            </a:extLst>
          </p:cNvPr>
          <p:cNvSpPr txBox="1"/>
          <p:nvPr/>
        </p:nvSpPr>
        <p:spPr>
          <a:xfrm>
            <a:off x="6671373" y="5019234"/>
            <a:ext cx="372029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500" dirty="0"/>
              <a:t>Retriever </a:t>
            </a:r>
            <a:r>
              <a:rPr lang="de-DE" sz="1500" dirty="0" err="1"/>
              <a:t>classes</a:t>
            </a:r>
            <a:r>
              <a:rPr lang="de-DE" sz="1500" dirty="0"/>
              <a:t> </a:t>
            </a:r>
            <a:r>
              <a:rPr lang="de-DE" sz="1500" dirty="0" err="1"/>
              <a:t>for</a:t>
            </a:r>
            <a:r>
              <a:rPr lang="de-DE" sz="1500" dirty="0"/>
              <a:t> </a:t>
            </a:r>
            <a:r>
              <a:rPr lang="de-DE" sz="1500" dirty="0" err="1"/>
              <a:t>each</a:t>
            </a:r>
            <a:r>
              <a:rPr lang="de-DE" sz="1500" dirty="0"/>
              <a:t> </a:t>
            </a:r>
            <a:r>
              <a:rPr lang="de-DE" sz="1500" dirty="0" err="1"/>
              <a:t>technique</a:t>
            </a:r>
            <a:endParaRPr lang="de-DE" sz="1500" dirty="0"/>
          </a:p>
        </p:txBody>
      </p:sp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6000499F-8738-75AE-5B5A-FC5509911DF0}"/>
              </a:ext>
            </a:extLst>
          </p:cNvPr>
          <p:cNvSpPr/>
          <p:nvPr/>
        </p:nvSpPr>
        <p:spPr>
          <a:xfrm>
            <a:off x="5081998" y="1139471"/>
            <a:ext cx="1046553" cy="783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C279D5D-6954-CE1B-1E6E-20CA1A42672A}"/>
              </a:ext>
            </a:extLst>
          </p:cNvPr>
          <p:cNvSpPr txBox="1"/>
          <p:nvPr/>
        </p:nvSpPr>
        <p:spPr>
          <a:xfrm>
            <a:off x="6128550" y="1001620"/>
            <a:ext cx="504843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contain data models (</a:t>
            </a:r>
            <a:r>
              <a:rPr lang="en-US" sz="1500" dirty="0" err="1"/>
              <a:t>dataclasses</a:t>
            </a:r>
            <a:r>
              <a:rPr lang="en-US" sz="1500" dirty="0"/>
              <a:t>, schemas, settings, structs).</a:t>
            </a:r>
            <a:endParaRPr lang="de-DE" sz="1500" dirty="0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2EDC9C7F-C507-9A50-221F-03B949185EEB}"/>
              </a:ext>
            </a:extLst>
          </p:cNvPr>
          <p:cNvSpPr/>
          <p:nvPr/>
        </p:nvSpPr>
        <p:spPr>
          <a:xfrm>
            <a:off x="5224678" y="1403859"/>
            <a:ext cx="895061" cy="783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7A1C3A3-48FE-D2FA-934F-C0264EA1A28B}"/>
              </a:ext>
            </a:extLst>
          </p:cNvPr>
          <p:cNvSpPr txBox="1"/>
          <p:nvPr/>
        </p:nvSpPr>
        <p:spPr>
          <a:xfrm>
            <a:off x="6128550" y="1288142"/>
            <a:ext cx="504843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contain abstract classes (contracts for behavior, Base classes)</a:t>
            </a:r>
            <a:endParaRPr lang="de-DE" sz="1500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F9DF1496-7E54-7671-658D-C5568F762F44}"/>
              </a:ext>
            </a:extLst>
          </p:cNvPr>
          <p:cNvSpPr/>
          <p:nvPr/>
        </p:nvSpPr>
        <p:spPr>
          <a:xfrm>
            <a:off x="5820684" y="2177238"/>
            <a:ext cx="895061" cy="783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86D06D17-7F0A-3172-7107-E0C4BA83DCBC}"/>
              </a:ext>
            </a:extLst>
          </p:cNvPr>
          <p:cNvSpPr/>
          <p:nvPr/>
        </p:nvSpPr>
        <p:spPr>
          <a:xfrm>
            <a:off x="5685191" y="2451967"/>
            <a:ext cx="1030554" cy="993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Pfeil: nach rechts 19">
            <a:extLst>
              <a:ext uri="{FF2B5EF4-FFF2-40B4-BE49-F238E27FC236}">
                <a16:creationId xmlns:a16="http://schemas.microsoft.com/office/drawing/2014/main" id="{1FD5F666-EDF1-BEA9-0DB1-212519C82D9C}"/>
              </a:ext>
            </a:extLst>
          </p:cNvPr>
          <p:cNvSpPr/>
          <p:nvPr/>
        </p:nvSpPr>
        <p:spPr>
          <a:xfrm>
            <a:off x="5017689" y="2715001"/>
            <a:ext cx="1698056" cy="1031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5487140-43FD-3666-D320-38B0BFC0AE32}"/>
              </a:ext>
            </a:extLst>
          </p:cNvPr>
          <p:cNvSpPr txBox="1"/>
          <p:nvPr/>
        </p:nvSpPr>
        <p:spPr>
          <a:xfrm>
            <a:off x="6671373" y="2037818"/>
            <a:ext cx="601304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Handles the indexing process (see slide 9)</a:t>
            </a:r>
            <a:endParaRPr lang="de-DE" sz="1500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B655CB6-ADA7-32AE-8203-67B830F681ED}"/>
              </a:ext>
            </a:extLst>
          </p:cNvPr>
          <p:cNvSpPr txBox="1"/>
          <p:nvPr/>
        </p:nvSpPr>
        <p:spPr>
          <a:xfrm>
            <a:off x="6671373" y="2325690"/>
            <a:ext cx="601304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Handles the full query → retrieve → prompt → answer flow</a:t>
            </a:r>
            <a:endParaRPr lang="de-DE" sz="1500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4B6343B-3D48-B17A-4226-2B5D392D0119}"/>
              </a:ext>
            </a:extLst>
          </p:cNvPr>
          <p:cNvSpPr txBox="1"/>
          <p:nvPr/>
        </p:nvSpPr>
        <p:spPr>
          <a:xfrm>
            <a:off x="6671373" y="2595906"/>
            <a:ext cx="601304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Orchestration class for the available RAG techniques (user-</a:t>
            </a:r>
            <a:r>
              <a:rPr lang="en-US" sz="1500" dirty="0" err="1"/>
              <a:t>api</a:t>
            </a:r>
            <a:r>
              <a:rPr lang="en-US" sz="1500" dirty="0"/>
              <a:t>)</a:t>
            </a:r>
            <a:endParaRPr lang="de-DE" sz="1500" dirty="0"/>
          </a:p>
        </p:txBody>
      </p:sp>
    </p:spTree>
    <p:extLst>
      <p:ext uri="{BB962C8B-B14F-4D97-AF65-F5344CB8AC3E}">
        <p14:creationId xmlns:p14="http://schemas.microsoft.com/office/powerpoint/2010/main" val="3120765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F20F5DE-6B80-CFB9-5BE9-81E77B07B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38" y="611758"/>
            <a:ext cx="2398964" cy="5746136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178FD1F-367E-437D-8942-541DB63893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084BBAAC-1BFA-5B76-4557-AB34031B92D6}"/>
              </a:ext>
            </a:extLst>
          </p:cNvPr>
          <p:cNvSpPr/>
          <p:nvPr/>
        </p:nvSpPr>
        <p:spPr>
          <a:xfrm>
            <a:off x="1531641" y="1022102"/>
            <a:ext cx="1516359" cy="1172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10A8572-6ED7-DF48-E797-7C1D8C2DA4AE}"/>
              </a:ext>
            </a:extLst>
          </p:cNvPr>
          <p:cNvSpPr txBox="1"/>
          <p:nvPr/>
        </p:nvSpPr>
        <p:spPr>
          <a:xfrm>
            <a:off x="3048000" y="421591"/>
            <a:ext cx="774309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r>
              <a:rPr lang="en-US" dirty="0"/>
              <a:t>This folder will be used, when running the docker compose setup (</a:t>
            </a:r>
            <a:r>
              <a:rPr lang="en-US" u="sng" dirty="0"/>
              <a:t>../docker-</a:t>
            </a:r>
            <a:r>
              <a:rPr lang="en-US" u="sng" dirty="0" err="1"/>
              <a:t>compose.yml</a:t>
            </a:r>
            <a:r>
              <a:rPr lang="en-US" dirty="0"/>
              <a:t>). 2 folders will be created in here: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1. </a:t>
            </a:r>
            <a:r>
              <a:rPr lang="en-US" b="1" dirty="0" err="1"/>
              <a:t>db</a:t>
            </a:r>
            <a:r>
              <a:rPr lang="en-US" b="1" dirty="0"/>
              <a:t>/</a:t>
            </a:r>
            <a:r>
              <a:rPr lang="en-US" b="1" dirty="0" err="1"/>
              <a:t>arango_data</a:t>
            </a:r>
            <a:endParaRPr lang="en-US" dirty="0"/>
          </a:p>
          <a:p>
            <a:pPr lvl="1"/>
            <a:br>
              <a:rPr lang="en-US" dirty="0"/>
            </a:br>
            <a:r>
              <a:rPr lang="en-US" dirty="0"/>
              <a:t>This folder is used by </a:t>
            </a:r>
            <a:r>
              <a:rPr lang="en-US" dirty="0" err="1"/>
              <a:t>ArangoDB</a:t>
            </a:r>
            <a:r>
              <a:rPr lang="en-US" dirty="0"/>
              <a:t> to store the generated </a:t>
            </a:r>
            <a:r>
              <a:rPr lang="en-US" dirty="0" err="1"/>
              <a:t>KnowledgeGraph</a:t>
            </a:r>
            <a:r>
              <a:rPr lang="en-US" dirty="0"/>
              <a:t> and </a:t>
            </a:r>
            <a:r>
              <a:rPr lang="en-US" dirty="0" err="1"/>
              <a:t>CommunityGraph</a:t>
            </a:r>
            <a:r>
              <a:rPr lang="en-US" dirty="0"/>
              <a:t>. It will further be used on user query.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2. </a:t>
            </a:r>
            <a:r>
              <a:rPr lang="en-US" b="1" dirty="0" err="1"/>
              <a:t>db</a:t>
            </a:r>
            <a:r>
              <a:rPr lang="en-US" b="1" dirty="0"/>
              <a:t>/</a:t>
            </a:r>
            <a:r>
              <a:rPr lang="en-US" b="1" dirty="0" err="1"/>
              <a:t>elastic_data</a:t>
            </a:r>
            <a:endParaRPr lang="en-US" dirty="0"/>
          </a:p>
          <a:p>
            <a:pPr lvl="1"/>
            <a:br>
              <a:rPr lang="en-US" dirty="0"/>
            </a:br>
            <a:r>
              <a:rPr lang="en-US" dirty="0"/>
              <a:t>This folder is used by </a:t>
            </a:r>
            <a:r>
              <a:rPr lang="en-US" dirty="0" err="1"/>
              <a:t>ElasticSearch</a:t>
            </a:r>
            <a:r>
              <a:rPr lang="en-US" dirty="0"/>
              <a:t> to store the generated Embeddings of document contents and community summaries. It will further be used on user query.</a:t>
            </a:r>
          </a:p>
          <a:p>
            <a:pPr lvl="1"/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err="1"/>
              <a:t>db</a:t>
            </a:r>
            <a:r>
              <a:rPr lang="en-US" b="1" dirty="0"/>
              <a:t>/data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lvl="1"/>
            <a:r>
              <a:rPr lang="en-US" dirty="0"/>
              <a:t>This folder contains the corpus</a:t>
            </a:r>
          </a:p>
          <a:p>
            <a:endParaRPr lang="en-US" dirty="0"/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92621997-BE94-1A91-2CC7-E81F192F9ED7}"/>
              </a:ext>
            </a:extLst>
          </p:cNvPr>
          <p:cNvSpPr/>
          <p:nvPr/>
        </p:nvSpPr>
        <p:spPr>
          <a:xfrm rot="20843944">
            <a:off x="1807327" y="1275214"/>
            <a:ext cx="125075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3">
            <a:extLst>
              <a:ext uri="{FF2B5EF4-FFF2-40B4-BE49-F238E27FC236}">
                <a16:creationId xmlns:a16="http://schemas.microsoft.com/office/drawing/2014/main" id="{0A88D7F7-28E3-1195-2D8A-6DC98A055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3813"/>
            <a:ext cx="3575416" cy="587945"/>
          </a:xfrm>
        </p:spPr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Structure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2039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819E0-A8A3-977F-C08B-78D5281BF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1762B8F-F9BF-2E32-B9C3-14AD6EF56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38" y="611758"/>
            <a:ext cx="2398964" cy="5746136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8902458-B4EC-37BF-EBB6-E05BC56545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42E933F-3C4D-5F7C-F2DF-1918D3330BB2}"/>
              </a:ext>
            </a:extLst>
          </p:cNvPr>
          <p:cNvSpPr txBox="1"/>
          <p:nvPr/>
        </p:nvSpPr>
        <p:spPr>
          <a:xfrm>
            <a:off x="3084208" y="29381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Scripts for executing the indexing and retrieval techniques</a:t>
            </a:r>
            <a:endParaRPr lang="de-DE" dirty="0"/>
          </a:p>
        </p:txBody>
      </p:sp>
      <p:sp>
        <p:nvSpPr>
          <p:cNvPr id="17" name="Pfeil: nach rechts 16">
            <a:extLst>
              <a:ext uri="{FF2B5EF4-FFF2-40B4-BE49-F238E27FC236}">
                <a16:creationId xmlns:a16="http://schemas.microsoft.com/office/drawing/2014/main" id="{7C8075C8-E0CB-8A8E-B722-88C64EBD2FCB}"/>
              </a:ext>
            </a:extLst>
          </p:cNvPr>
          <p:cNvSpPr/>
          <p:nvPr/>
        </p:nvSpPr>
        <p:spPr>
          <a:xfrm>
            <a:off x="1821310" y="3064198"/>
            <a:ext cx="1193611" cy="1172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0C046CC-6D69-7FE2-5232-020E488DD95A}"/>
              </a:ext>
            </a:extLst>
          </p:cNvPr>
          <p:cNvSpPr txBox="1"/>
          <p:nvPr/>
        </p:nvSpPr>
        <p:spPr>
          <a:xfrm>
            <a:off x="3084208" y="1894110"/>
            <a:ext cx="4063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Jupyter</a:t>
            </a:r>
            <a:r>
              <a:rPr lang="en-US" dirty="0"/>
              <a:t> notebook demo files</a:t>
            </a:r>
            <a:endParaRPr lang="de-DE" dirty="0"/>
          </a:p>
        </p:txBody>
      </p:sp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5E7E92C2-9DFE-A3FF-3726-6C4791465C1F}"/>
              </a:ext>
            </a:extLst>
          </p:cNvPr>
          <p:cNvSpPr/>
          <p:nvPr/>
        </p:nvSpPr>
        <p:spPr>
          <a:xfrm>
            <a:off x="2067131" y="2024144"/>
            <a:ext cx="947790" cy="1172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203F3A7A-6BD8-2F41-A6B1-42AEC24F56AD}"/>
              </a:ext>
            </a:extLst>
          </p:cNvPr>
          <p:cNvSpPr/>
          <p:nvPr/>
        </p:nvSpPr>
        <p:spPr>
          <a:xfrm>
            <a:off x="2101775" y="2737504"/>
            <a:ext cx="913146" cy="1172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9943F22-24A9-64FE-DDCF-DEA2AFC03342}"/>
              </a:ext>
            </a:extLst>
          </p:cNvPr>
          <p:cNvSpPr txBox="1"/>
          <p:nvPr/>
        </p:nvSpPr>
        <p:spPr>
          <a:xfrm>
            <a:off x="3084208" y="2611454"/>
            <a:ext cx="9038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Configuration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e.g. </a:t>
            </a:r>
            <a:r>
              <a:rPr lang="de-DE" dirty="0" err="1"/>
              <a:t>regarding</a:t>
            </a:r>
            <a:r>
              <a:rPr lang="de-DE" dirty="0"/>
              <a:t> </a:t>
            </a:r>
            <a:r>
              <a:rPr lang="de-DE" dirty="0" err="1"/>
              <a:t>graph</a:t>
            </a:r>
            <a:r>
              <a:rPr lang="de-DE" dirty="0"/>
              <a:t> </a:t>
            </a:r>
            <a:r>
              <a:rPr lang="de-DE" dirty="0" err="1"/>
              <a:t>construction</a:t>
            </a:r>
            <a:r>
              <a:rPr lang="de-DE" dirty="0"/>
              <a:t> and </a:t>
            </a:r>
            <a:r>
              <a:rPr lang="de-DE" dirty="0" err="1"/>
              <a:t>retrieval</a:t>
            </a:r>
            <a:r>
              <a:rPr lang="de-DE" dirty="0"/>
              <a:t> (LLM </a:t>
            </a:r>
            <a:r>
              <a:rPr lang="de-DE" dirty="0" err="1"/>
              <a:t>config</a:t>
            </a:r>
            <a:r>
              <a:rPr lang="de-DE" dirty="0"/>
              <a:t>, Arango </a:t>
            </a:r>
            <a:r>
              <a:rPr lang="de-DE" dirty="0" err="1"/>
              <a:t>config</a:t>
            </a:r>
            <a:r>
              <a:rPr lang="de-DE" dirty="0"/>
              <a:t> ..)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6BEA796-CCEA-AAF1-6F54-2FD4201C7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3813"/>
            <a:ext cx="3575416" cy="587945"/>
          </a:xfrm>
        </p:spPr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Structure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1616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5A88A9-9068-111C-EBFE-F718B5427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RAGLib</a:t>
            </a:r>
            <a:r>
              <a:rPr lang="de-DE" dirty="0"/>
              <a:t> </a:t>
            </a:r>
            <a:r>
              <a:rPr lang="de-DE" dirty="0" err="1"/>
              <a:t>Framewok</a:t>
            </a:r>
            <a:r>
              <a:rPr lang="de-DE" dirty="0"/>
              <a:t> Design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A5B47E-4FA6-8761-05DE-D291C4FC47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3879386-0964-D7B5-D889-E701A6699C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4" y="1482971"/>
            <a:ext cx="6098199" cy="362580"/>
          </a:xfrm>
        </p:spPr>
        <p:txBody>
          <a:bodyPr>
            <a:normAutofit/>
          </a:bodyPr>
          <a:lstStyle/>
          <a:p>
            <a:r>
              <a:rPr lang="de-DE" sz="1500" b="0" dirty="0"/>
              <a:t>Flexible </a:t>
            </a:r>
            <a:r>
              <a:rPr lang="de-DE" sz="1500" b="0" dirty="0" err="1"/>
              <a:t>Indexing</a:t>
            </a:r>
            <a:r>
              <a:rPr lang="de-DE" sz="1500" b="0" dirty="0"/>
              <a:t> &amp; </a:t>
            </a:r>
            <a:r>
              <a:rPr lang="de-DE" sz="1500" b="0" dirty="0" err="1"/>
              <a:t>Querying</a:t>
            </a:r>
            <a:r>
              <a:rPr lang="de-DE" sz="1500" b="0" dirty="0"/>
              <a:t> Pipelines </a:t>
            </a:r>
            <a:r>
              <a:rPr lang="de-DE" sz="1500" b="0" dirty="0" err="1"/>
              <a:t>for</a:t>
            </a:r>
            <a:r>
              <a:rPr lang="de-DE" sz="1500" b="0" dirty="0"/>
              <a:t> Knowledge-Driven QA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CBD271F-2398-BCDA-E38D-F7CB47803D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9125" y="2173983"/>
            <a:ext cx="9626844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de-DE" altLang="de-DE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RAGLib</a:t>
            </a:r>
            <a:r>
              <a:rPr kumimoji="0" lang="de-DE" altLang="de-DE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should</a:t>
            </a:r>
            <a:r>
              <a:rPr kumimoji="0" lang="de-DE" altLang="de-DE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de-DE" altLang="de-DE" sz="1500" b="1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de-DE" altLang="de-DE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indexing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retrieval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strategies</a:t>
            </a:r>
            <a:endParaRPr kumimoji="0" lang="de-DE" altLang="de-DE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Configurable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pipelines</a:t>
            </a:r>
            <a:endParaRPr kumimoji="0" lang="de-DE" altLang="de-DE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Maintainability</a:t>
            </a:r>
            <a:r>
              <a:rPr kumimoji="0" lang="de-DE" altLang="de-DE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de-DE" altLang="de-DE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extensibility</a:t>
            </a:r>
            <a:endParaRPr kumimoji="0" lang="de-DE" altLang="de-DE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de-DE" altLang="de-DE" sz="15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1500" dirty="0"/>
              <a:t>Goal: </a:t>
            </a:r>
            <a:r>
              <a:rPr lang="en-US" sz="1500" b="1" dirty="0"/>
              <a:t>Design a reusable RAG framework</a:t>
            </a:r>
            <a:r>
              <a:rPr lang="en-US" sz="1500" dirty="0"/>
              <a:t> for graph/vector techniques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5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5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de-DE" sz="15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de-DE" altLang="de-DE" sz="1500" dirty="0"/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E76BD69D-669B-65C3-0572-F2C9CA0A29F0}"/>
              </a:ext>
            </a:extLst>
          </p:cNvPr>
          <p:cNvSpPr txBox="1">
            <a:spLocks/>
          </p:cNvSpPr>
          <p:nvPr/>
        </p:nvSpPr>
        <p:spPr>
          <a:xfrm>
            <a:off x="695324" y="4306686"/>
            <a:ext cx="1707907" cy="36258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500" b="0" dirty="0">
                <a:solidFill>
                  <a:srgbClr val="FFD24A"/>
                </a:solidFill>
              </a:rPr>
              <a:t>Design </a:t>
            </a:r>
            <a:r>
              <a:rPr lang="de-DE" sz="1500" b="0" dirty="0" err="1">
                <a:solidFill>
                  <a:srgbClr val="FFD24A"/>
                </a:solidFill>
              </a:rPr>
              <a:t>Principles</a:t>
            </a:r>
            <a:endParaRPr lang="de-DE" sz="1500" b="0" dirty="0">
              <a:solidFill>
                <a:srgbClr val="FFD24A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81B9B3D-839E-C671-C249-E68B8F31A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094" y="4719151"/>
            <a:ext cx="9105167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500" b="1" dirty="0"/>
              <a:t>Modular design (</a:t>
            </a:r>
            <a:r>
              <a:rPr lang="en-US" altLang="de-DE" sz="1500" b="1" dirty="0"/>
              <a:t>Easily add/remove/change indexing/retrieval techniques</a:t>
            </a:r>
            <a:r>
              <a:rPr lang="de-DE" altLang="de-DE" sz="1500" b="1" dirty="0"/>
              <a:t>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500" b="1" dirty="0"/>
              <a:t>Separation </a:t>
            </a:r>
            <a:r>
              <a:rPr lang="de-DE" altLang="de-DE" sz="1500" b="1" dirty="0" err="1"/>
              <a:t>of</a:t>
            </a:r>
            <a:r>
              <a:rPr lang="de-DE" altLang="de-DE" sz="1500" b="1" dirty="0"/>
              <a:t> </a:t>
            </a:r>
            <a:r>
              <a:rPr lang="de-DE" altLang="de-DE" sz="1500" b="1" dirty="0" err="1"/>
              <a:t>Indexing</a:t>
            </a:r>
            <a:r>
              <a:rPr lang="de-DE" altLang="de-DE" sz="1500" b="1" dirty="0"/>
              <a:t> &amp; </a:t>
            </a:r>
            <a:r>
              <a:rPr lang="de-DE" altLang="de-DE" sz="1500" b="1" dirty="0" err="1"/>
              <a:t>Querying</a:t>
            </a:r>
            <a:endParaRPr lang="de-DE" altLang="de-DE" sz="1500" b="1" dirty="0"/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500" b="1" dirty="0"/>
              <a:t>Support </a:t>
            </a:r>
            <a:r>
              <a:rPr lang="de-DE" altLang="de-DE" sz="1500" b="1" dirty="0" err="1"/>
              <a:t>for</a:t>
            </a:r>
            <a:r>
              <a:rPr lang="de-DE" altLang="de-DE" sz="1500" b="1" dirty="0"/>
              <a:t> multiple RAG </a:t>
            </a:r>
            <a:r>
              <a:rPr lang="de-DE" altLang="de-DE" sz="1500" b="1" dirty="0" err="1"/>
              <a:t>techniques</a:t>
            </a:r>
            <a:endParaRPr lang="de-DE" altLang="de-DE" sz="1500" b="1" dirty="0"/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500" b="1" dirty="0"/>
              <a:t>High-level </a:t>
            </a:r>
            <a:r>
              <a:rPr lang="de-DE" altLang="de-DE" sz="1500" b="1" dirty="0" err="1"/>
              <a:t>usability</a:t>
            </a:r>
            <a:r>
              <a:rPr lang="de-DE" altLang="de-DE" sz="1500" b="1" dirty="0"/>
              <a:t> (</a:t>
            </a:r>
            <a:r>
              <a:rPr lang="de-DE" altLang="de-DE" sz="1500" b="1" dirty="0" err="1"/>
              <a:t>plug</a:t>
            </a:r>
            <a:r>
              <a:rPr lang="de-DE" altLang="de-DE" sz="1500" b="1" dirty="0"/>
              <a:t>-and-play)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500" b="1" dirty="0"/>
              <a:t>Low-level </a:t>
            </a:r>
            <a:r>
              <a:rPr lang="de-DE" altLang="de-DE" sz="1500" b="1" dirty="0" err="1"/>
              <a:t>control</a:t>
            </a:r>
            <a:r>
              <a:rPr lang="de-DE" altLang="de-DE" sz="1500" b="1" dirty="0"/>
              <a:t> (</a:t>
            </a:r>
            <a:r>
              <a:rPr lang="de-DE" altLang="de-DE" sz="1500" b="1" dirty="0" err="1"/>
              <a:t>advanced</a:t>
            </a:r>
            <a:r>
              <a:rPr lang="de-DE" altLang="de-DE" sz="1500" b="1" dirty="0"/>
              <a:t> </a:t>
            </a:r>
            <a:r>
              <a:rPr lang="de-DE" altLang="de-DE" sz="1500" b="1" dirty="0" err="1"/>
              <a:t>tuning</a:t>
            </a:r>
            <a:r>
              <a:rPr lang="de-DE" altLang="de-DE" sz="15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38525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B5E69-5E12-A847-A0FD-423D2B548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506EB-416E-79FA-5707-F13F5E4E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High-Level Architecture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932945-23A3-1731-7B6A-F5075C9D5E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72628" y="5531466"/>
            <a:ext cx="288000" cy="1440000"/>
          </a:xfrm>
        </p:spPr>
        <p:txBody>
          <a:bodyPr/>
          <a:lstStyle/>
          <a:p>
            <a:fld id="{30ADABB7-F9A6-4A4D-9415-296AC5E687F8}" type="slidenum">
              <a:rPr lang="de-DE" smtClean="0"/>
              <a:pPr/>
              <a:t>7</a:t>
            </a:fld>
            <a:endParaRPr lang="de-DE"/>
          </a:p>
        </p:txBody>
      </p:sp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FE7DCB32-D3A1-B5EE-3BE5-12E0143AD1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3118394"/>
              </p:ext>
            </p:extLst>
          </p:nvPr>
        </p:nvGraphicFramePr>
        <p:xfrm>
          <a:off x="5287210" y="1196794"/>
          <a:ext cx="1617580" cy="715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Diagramm 10">
            <a:extLst>
              <a:ext uri="{FF2B5EF4-FFF2-40B4-BE49-F238E27FC236}">
                <a16:creationId xmlns:a16="http://schemas.microsoft.com/office/drawing/2014/main" id="{8AE29255-CEC6-F037-D18E-AC1D6D36D2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454149"/>
              </p:ext>
            </p:extLst>
          </p:nvPr>
        </p:nvGraphicFramePr>
        <p:xfrm>
          <a:off x="1890766" y="2463343"/>
          <a:ext cx="8510954" cy="4050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148FF8D1-92F3-B6FA-2828-A40BD116E418}"/>
              </a:ext>
            </a:extLst>
          </p:cNvPr>
          <p:cNvCxnSpPr/>
          <p:nvPr/>
        </p:nvCxnSpPr>
        <p:spPr>
          <a:xfrm flipH="1">
            <a:off x="5091166" y="1912173"/>
            <a:ext cx="861647" cy="5511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FC729BFB-8D7E-5086-7510-2F667A56A726}"/>
              </a:ext>
            </a:extLst>
          </p:cNvPr>
          <p:cNvCxnSpPr/>
          <p:nvPr/>
        </p:nvCxnSpPr>
        <p:spPr>
          <a:xfrm>
            <a:off x="5952813" y="1912173"/>
            <a:ext cx="951977" cy="5511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DF4619F3-11B3-FA4F-DF58-A13B093AA88E}"/>
              </a:ext>
            </a:extLst>
          </p:cNvPr>
          <p:cNvSpPr txBox="1"/>
          <p:nvPr/>
        </p:nvSpPr>
        <p:spPr>
          <a:xfrm>
            <a:off x="6904789" y="1196794"/>
            <a:ext cx="404267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500" b="1" dirty="0"/>
              <a:t>              Top-level </a:t>
            </a:r>
            <a:r>
              <a:rPr lang="de-DE" sz="1500" b="1" dirty="0" err="1"/>
              <a:t>Orchestrator</a:t>
            </a:r>
            <a:r>
              <a:rPr lang="de-DE" sz="1500" b="1" dirty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500" dirty="0"/>
              <a:t>user-</a:t>
            </a:r>
            <a:r>
              <a:rPr lang="de-DE" sz="1500" dirty="0" err="1"/>
              <a:t>friendly</a:t>
            </a:r>
            <a:r>
              <a:rPr lang="de-DE" sz="1500" dirty="0"/>
              <a:t> </a:t>
            </a:r>
            <a:r>
              <a:rPr lang="de-DE" sz="1500" dirty="0" err="1"/>
              <a:t>wrapper</a:t>
            </a:r>
            <a:r>
              <a:rPr lang="de-DE" sz="1500" dirty="0"/>
              <a:t> </a:t>
            </a:r>
            <a:r>
              <a:rPr lang="de-DE" sz="1500" dirty="0" err="1"/>
              <a:t>with</a:t>
            </a:r>
            <a:r>
              <a:rPr lang="de-DE" sz="1500" dirty="0"/>
              <a:t> .</a:t>
            </a:r>
            <a:r>
              <a:rPr lang="de-DE" sz="1500" dirty="0" err="1"/>
              <a:t>index</a:t>
            </a:r>
            <a:r>
              <a:rPr lang="de-DE" sz="1500" dirty="0"/>
              <a:t>() &amp;.</a:t>
            </a:r>
            <a:r>
              <a:rPr lang="de-DE" sz="1500" dirty="0" err="1"/>
              <a:t>query</a:t>
            </a:r>
            <a:r>
              <a:rPr lang="de-DE" sz="1500" dirty="0"/>
              <a:t>()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7288DAC-5D25-B15C-54CF-3CE6423CA1ED}"/>
              </a:ext>
            </a:extLst>
          </p:cNvPr>
          <p:cNvSpPr txBox="1"/>
          <p:nvPr/>
        </p:nvSpPr>
        <p:spPr>
          <a:xfrm>
            <a:off x="453278" y="2470357"/>
            <a:ext cx="36013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/>
              <a:t>	Mid-level Orchestrator: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/>
              <a:t>Handles the indexing process (Pipeline)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9DF3E8DA-23BD-86DB-72E7-663BED841BED}"/>
              </a:ext>
            </a:extLst>
          </p:cNvPr>
          <p:cNvSpPr txBox="1"/>
          <p:nvPr/>
        </p:nvSpPr>
        <p:spPr>
          <a:xfrm>
            <a:off x="8014712" y="2463343"/>
            <a:ext cx="417728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500" b="1" dirty="0">
                <a:sym typeface="Wingdings" panose="05000000000000000000" pitchFamily="2" charset="2"/>
              </a:rPr>
              <a:t>	Mid-level </a:t>
            </a:r>
            <a:r>
              <a:rPr lang="de-DE" sz="1500" b="1" dirty="0" err="1">
                <a:sym typeface="Wingdings" panose="05000000000000000000" pitchFamily="2" charset="2"/>
              </a:rPr>
              <a:t>Orchestrator</a:t>
            </a:r>
            <a:r>
              <a:rPr lang="de-DE" sz="1500" b="1" dirty="0">
                <a:sym typeface="Wingdings" panose="05000000000000000000" pitchFamily="2" charset="2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500" dirty="0">
                <a:sym typeface="Wingdings" panose="05000000000000000000" pitchFamily="2" charset="2"/>
              </a:rPr>
              <a:t>Handles </a:t>
            </a:r>
            <a:r>
              <a:rPr lang="de-DE" sz="1500" dirty="0" err="1">
                <a:sym typeface="Wingdings" panose="05000000000000000000" pitchFamily="2" charset="2"/>
              </a:rPr>
              <a:t>query</a:t>
            </a:r>
            <a:r>
              <a:rPr lang="de-DE" sz="1500" dirty="0">
                <a:sym typeface="Wingdings" panose="05000000000000000000" pitchFamily="2" charset="2"/>
              </a:rPr>
              <a:t> → </a:t>
            </a:r>
            <a:r>
              <a:rPr lang="de-DE" sz="1500" dirty="0" err="1">
                <a:sym typeface="Wingdings" panose="05000000000000000000" pitchFamily="2" charset="2"/>
              </a:rPr>
              <a:t>retrieve</a:t>
            </a:r>
            <a:r>
              <a:rPr lang="de-DE" sz="1500" dirty="0">
                <a:sym typeface="Wingdings" panose="05000000000000000000" pitchFamily="2" charset="2"/>
              </a:rPr>
              <a:t> → prompt → </a:t>
            </a:r>
            <a:r>
              <a:rPr lang="de-DE" sz="1500" dirty="0" err="1">
                <a:sym typeface="Wingdings" panose="05000000000000000000" pitchFamily="2" charset="2"/>
              </a:rPr>
              <a:t>answer</a:t>
            </a:r>
            <a:endParaRPr lang="de-DE" sz="1500" dirty="0">
              <a:sym typeface="Wingdings" panose="05000000000000000000" pitchFamily="2" charset="2"/>
            </a:endParaRPr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668A60C5-BC44-4B93-B8E3-0A678374313C}"/>
              </a:ext>
            </a:extLst>
          </p:cNvPr>
          <p:cNvSpPr txBox="1">
            <a:spLocks/>
          </p:cNvSpPr>
          <p:nvPr/>
        </p:nvSpPr>
        <p:spPr>
          <a:xfrm>
            <a:off x="453278" y="5000784"/>
            <a:ext cx="1841687" cy="315287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500" b="0" dirty="0">
                <a:solidFill>
                  <a:srgbClr val="FFC000"/>
                </a:solidFill>
              </a:rPr>
              <a:t>Design </a:t>
            </a:r>
            <a:r>
              <a:rPr lang="de-DE" sz="1500" b="0" dirty="0" err="1">
                <a:solidFill>
                  <a:srgbClr val="FFC000"/>
                </a:solidFill>
              </a:rPr>
              <a:t>Principles</a:t>
            </a:r>
            <a:endParaRPr lang="de-DE" sz="1500" b="0" dirty="0">
              <a:solidFill>
                <a:srgbClr val="FFC000"/>
              </a:solidFill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4F76D499-0605-48D7-B53E-019ACDA37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628" y="5421060"/>
            <a:ext cx="4209059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400" b="1" dirty="0"/>
              <a:t>Modular design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400" b="1" dirty="0"/>
              <a:t>Separation </a:t>
            </a:r>
            <a:r>
              <a:rPr lang="de-DE" altLang="de-DE" sz="1400" b="1" dirty="0" err="1"/>
              <a:t>of</a:t>
            </a:r>
            <a:r>
              <a:rPr lang="de-DE" altLang="de-DE" sz="1400" b="1" dirty="0"/>
              <a:t> </a:t>
            </a:r>
            <a:r>
              <a:rPr lang="de-DE" altLang="de-DE" sz="1400" b="1" dirty="0" err="1"/>
              <a:t>Indexing</a:t>
            </a:r>
            <a:r>
              <a:rPr lang="de-DE" altLang="de-DE" sz="1400" b="1" dirty="0"/>
              <a:t> &amp; </a:t>
            </a:r>
            <a:r>
              <a:rPr lang="de-DE" altLang="de-DE" sz="1400" b="1" dirty="0" err="1"/>
              <a:t>Querying</a:t>
            </a:r>
            <a:endParaRPr lang="de-DE" altLang="de-DE" sz="1400" b="1" dirty="0"/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400" b="1" dirty="0"/>
              <a:t>Support </a:t>
            </a:r>
            <a:r>
              <a:rPr lang="de-DE" altLang="de-DE" sz="1400" b="1" dirty="0" err="1"/>
              <a:t>for</a:t>
            </a:r>
            <a:r>
              <a:rPr lang="de-DE" altLang="de-DE" sz="1400" b="1" dirty="0"/>
              <a:t> multiple RAG </a:t>
            </a:r>
            <a:r>
              <a:rPr lang="de-DE" altLang="de-DE" sz="1400" b="1" dirty="0" err="1"/>
              <a:t>techniques</a:t>
            </a:r>
            <a:endParaRPr lang="de-DE" altLang="de-DE" sz="1400" b="1" dirty="0"/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400" b="1" dirty="0"/>
              <a:t>High-level </a:t>
            </a:r>
            <a:r>
              <a:rPr lang="de-DE" altLang="de-DE" sz="1400" b="1" dirty="0" err="1"/>
              <a:t>usability</a:t>
            </a:r>
            <a:r>
              <a:rPr lang="de-DE" altLang="de-DE" sz="1400" b="1" dirty="0"/>
              <a:t> (</a:t>
            </a:r>
            <a:r>
              <a:rPr lang="de-DE" altLang="de-DE" sz="1400" b="1" dirty="0" err="1"/>
              <a:t>plug</a:t>
            </a:r>
            <a:r>
              <a:rPr lang="de-DE" altLang="de-DE" sz="1400" b="1" dirty="0"/>
              <a:t>-and-play)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de-DE" altLang="de-DE" sz="1400" b="1" dirty="0"/>
              <a:t>Low-level </a:t>
            </a:r>
            <a:r>
              <a:rPr lang="de-DE" altLang="de-DE" sz="1400" b="1" dirty="0" err="1"/>
              <a:t>control</a:t>
            </a:r>
            <a:r>
              <a:rPr lang="de-DE" altLang="de-DE" sz="1400" b="1" dirty="0"/>
              <a:t> (</a:t>
            </a:r>
            <a:r>
              <a:rPr lang="de-DE" altLang="de-DE" sz="1400" b="1" dirty="0" err="1"/>
              <a:t>advanced</a:t>
            </a:r>
            <a:r>
              <a:rPr lang="de-DE" altLang="de-DE" sz="1400" b="1" dirty="0"/>
              <a:t> </a:t>
            </a:r>
            <a:r>
              <a:rPr lang="de-DE" altLang="de-DE" sz="1400" b="1" dirty="0" err="1"/>
              <a:t>tuning</a:t>
            </a:r>
            <a:r>
              <a:rPr lang="de-DE" altLang="de-DE" sz="14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4867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4393C7-CA38-926B-C825-B9A6CCA1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Indexer</a:t>
            </a:r>
            <a:r>
              <a:rPr lang="de-DE" dirty="0"/>
              <a:t> &amp; Query </a:t>
            </a:r>
            <a:r>
              <a:rPr lang="de-DE" dirty="0" err="1"/>
              <a:t>Engines</a:t>
            </a:r>
            <a:endParaRPr lang="de-DE" dirty="0"/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87977D15-0385-8887-AFBF-F44AB70174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3774941"/>
              </p:ext>
            </p:extLst>
          </p:nvPr>
        </p:nvGraphicFramePr>
        <p:xfrm>
          <a:off x="695325" y="1997099"/>
          <a:ext cx="10801350" cy="640080"/>
        </p:xfrm>
        <a:graphic>
          <a:graphicData uri="http://schemas.openxmlformats.org/drawingml/2006/table">
            <a:tbl>
              <a:tblPr/>
              <a:tblGrid>
                <a:gridCol w="2194413">
                  <a:extLst>
                    <a:ext uri="{9D8B030D-6E8A-4147-A177-3AD203B41FA5}">
                      <a16:colId xmlns:a16="http://schemas.microsoft.com/office/drawing/2014/main" val="3616425007"/>
                    </a:ext>
                  </a:extLst>
                </a:gridCol>
                <a:gridCol w="8606937">
                  <a:extLst>
                    <a:ext uri="{9D8B030D-6E8A-4147-A177-3AD203B41FA5}">
                      <a16:colId xmlns:a16="http://schemas.microsoft.com/office/drawing/2014/main" val="19640490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 b="1" dirty="0" err="1"/>
                        <a:t>IndexerEngine</a:t>
                      </a:r>
                      <a:endParaRPr lang="de-DE" sz="15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Handles the indexing process, Orchestrates logic with mid-level config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544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 b="1" dirty="0" err="1"/>
                        <a:t>QueryEngine</a:t>
                      </a:r>
                      <a:endParaRPr lang="de-DE" sz="15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500" dirty="0" err="1"/>
                        <a:t>Orchestrates</a:t>
                      </a:r>
                      <a:r>
                        <a:rPr lang="de-DE" sz="1500" dirty="0"/>
                        <a:t> </a:t>
                      </a:r>
                      <a:r>
                        <a:rPr lang="de-DE" sz="1500" dirty="0" err="1"/>
                        <a:t>full</a:t>
                      </a:r>
                      <a:r>
                        <a:rPr lang="de-DE" sz="1500" dirty="0"/>
                        <a:t> </a:t>
                      </a:r>
                      <a:r>
                        <a:rPr lang="de-DE" sz="1500" dirty="0" err="1"/>
                        <a:t>query-retrieve-generate</a:t>
                      </a:r>
                      <a:r>
                        <a:rPr lang="de-DE" sz="1500" dirty="0"/>
                        <a:t> </a:t>
                      </a:r>
                      <a:r>
                        <a:rPr lang="de-DE" sz="1500" dirty="0" err="1"/>
                        <a:t>flow</a:t>
                      </a:r>
                      <a:r>
                        <a:rPr lang="de-DE" sz="1500" dirty="0"/>
                        <a:t>, </a:t>
                      </a:r>
                      <a:r>
                        <a:rPr lang="de-DE" sz="1500" dirty="0" err="1"/>
                        <a:t>mid</a:t>
                      </a:r>
                      <a:r>
                        <a:rPr lang="de-DE" sz="1500" dirty="0"/>
                        <a:t>-level </a:t>
                      </a:r>
                      <a:r>
                        <a:rPr lang="de-DE" sz="1500" dirty="0" err="1"/>
                        <a:t>config</a:t>
                      </a:r>
                      <a:endParaRPr lang="de-DE" sz="15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659723"/>
                  </a:ext>
                </a:extLst>
              </a:tr>
            </a:tbl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812A9A-0041-A409-0898-B4C23919AD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63CCB4B-C095-B362-3EDC-78CF20A128E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89110" y="1491293"/>
            <a:ext cx="822813" cy="439824"/>
          </a:xfrm>
        </p:spPr>
        <p:txBody>
          <a:bodyPr>
            <a:normAutofit fontScale="85000" lnSpcReduction="10000"/>
          </a:bodyPr>
          <a:lstStyle/>
          <a:p>
            <a:r>
              <a:rPr lang="de-DE" dirty="0"/>
              <a:t>Engine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ECF700C7-DFCD-36FD-BD76-B49BF4CE625B}"/>
              </a:ext>
            </a:extLst>
          </p:cNvPr>
          <p:cNvSpPr txBox="1">
            <a:spLocks/>
          </p:cNvSpPr>
          <p:nvPr/>
        </p:nvSpPr>
        <p:spPr>
          <a:xfrm>
            <a:off x="2946157" y="1491293"/>
            <a:ext cx="822814" cy="399906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500" dirty="0" err="1"/>
              <a:t>Role</a:t>
            </a:r>
            <a:endParaRPr lang="de-DE" sz="15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8139FBB-9C7C-D5B2-8042-C3BCB02D15A7}"/>
              </a:ext>
            </a:extLst>
          </p:cNvPr>
          <p:cNvSpPr txBox="1"/>
          <p:nvPr/>
        </p:nvSpPr>
        <p:spPr>
          <a:xfrm>
            <a:off x="695325" y="2929053"/>
            <a:ext cx="8845062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u="sng" dirty="0"/>
              <a:t>Each engine can</a:t>
            </a:r>
            <a:r>
              <a:rPr lang="en-US" sz="1500" dirty="0"/>
              <a:t>:</a:t>
            </a:r>
          </a:p>
          <a:p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/>
              <a:t>Accept string identifiers (‘</a:t>
            </a:r>
            <a:r>
              <a:rPr lang="en-US" sz="1500" dirty="0" err="1"/>
              <a:t>garag</a:t>
            </a:r>
            <a:r>
              <a:rPr lang="en-US" sz="1500" dirty="0"/>
              <a:t>’, ‘</a:t>
            </a:r>
            <a:r>
              <a:rPr lang="en-US" sz="1500" dirty="0" err="1"/>
              <a:t>naiverag</a:t>
            </a:r>
            <a:r>
              <a:rPr lang="en-US" sz="1500" dirty="0"/>
              <a:t>’)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/>
              <a:t>Accept full custom class instances (</a:t>
            </a:r>
            <a:r>
              <a:rPr lang="en-US" sz="1500" dirty="0" err="1"/>
              <a:t>GARAGIndexer</a:t>
            </a:r>
            <a:r>
              <a:rPr lang="en-US" sz="1500" dirty="0"/>
              <a:t>(**config))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/>
              <a:t>And a combination of both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B000"/>
                </a:solidFill>
              </a:rPr>
              <a:t>Easily add new techniques trough Indexer &amp; Retriever classes</a:t>
            </a:r>
            <a:endParaRPr lang="de-DE" sz="1600" dirty="0">
              <a:solidFill>
                <a:srgbClr val="00B000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DC7208C-D2AC-602B-01B5-8FF04C022F9F}"/>
              </a:ext>
            </a:extLst>
          </p:cNvPr>
          <p:cNvSpPr txBox="1"/>
          <p:nvPr/>
        </p:nvSpPr>
        <p:spPr>
          <a:xfrm>
            <a:off x="144000" y="5366707"/>
            <a:ext cx="487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de-DE" sz="1400" dirty="0" err="1"/>
              <a:t>Pluggable</a:t>
            </a:r>
            <a:r>
              <a:rPr lang="de-DE" sz="1400" dirty="0"/>
              <a:t> </a:t>
            </a:r>
            <a:r>
              <a:rPr lang="de-DE" sz="1400" dirty="0" err="1"/>
              <a:t>retriever</a:t>
            </a:r>
            <a:r>
              <a:rPr lang="de-DE" sz="1400" dirty="0"/>
              <a:t> </a:t>
            </a:r>
            <a:r>
              <a:rPr lang="de-DE" sz="1400" dirty="0" err="1"/>
              <a:t>by</a:t>
            </a:r>
            <a:r>
              <a:rPr lang="de-DE" sz="1400" dirty="0"/>
              <a:t> </a:t>
            </a:r>
            <a:r>
              <a:rPr lang="de-DE" sz="1400" dirty="0" err="1"/>
              <a:t>name</a:t>
            </a:r>
            <a:r>
              <a:rPr lang="de-DE" sz="1400" dirty="0"/>
              <a:t> („</a:t>
            </a:r>
            <a:r>
              <a:rPr lang="de-DE" sz="1400" dirty="0" err="1"/>
              <a:t>graphrag</a:t>
            </a:r>
            <a:r>
              <a:rPr lang="de-DE" sz="1400" dirty="0"/>
              <a:t>", „</a:t>
            </a:r>
            <a:r>
              <a:rPr lang="de-DE" sz="1400" dirty="0" err="1"/>
              <a:t>garag</a:t>
            </a:r>
            <a:r>
              <a:rPr lang="de-DE" sz="1400" dirty="0"/>
              <a:t>" etc.)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de-DE" sz="1400" dirty="0"/>
              <a:t>Central </a:t>
            </a:r>
            <a:r>
              <a:rPr lang="de-DE" sz="1400" dirty="0" err="1"/>
              <a:t>control</a:t>
            </a:r>
            <a:r>
              <a:rPr lang="de-DE" sz="1400" dirty="0"/>
              <a:t> </a:t>
            </a:r>
            <a:r>
              <a:rPr lang="de-DE" sz="1400" dirty="0" err="1"/>
              <a:t>over</a:t>
            </a:r>
            <a:r>
              <a:rPr lang="de-DE" sz="1400" dirty="0"/>
              <a:t> </a:t>
            </a:r>
            <a:r>
              <a:rPr lang="de-DE" sz="1400" dirty="0" err="1"/>
              <a:t>retrieval</a:t>
            </a:r>
            <a:r>
              <a:rPr lang="de-DE" sz="1400" dirty="0"/>
              <a:t> </a:t>
            </a:r>
            <a:r>
              <a:rPr lang="de-DE" sz="1400" dirty="0" err="1"/>
              <a:t>logic</a:t>
            </a:r>
            <a:r>
              <a:rPr lang="de-DE" sz="1400" dirty="0"/>
              <a:t> </a:t>
            </a:r>
            <a:r>
              <a:rPr lang="de-DE" sz="1400" dirty="0" err="1"/>
              <a:t>inside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engine</a:t>
            </a:r>
            <a:endParaRPr lang="de-DE" sz="140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D9EBB70E-ECA9-7FAF-A5CE-6F0FD33FAB68}"/>
              </a:ext>
            </a:extLst>
          </p:cNvPr>
          <p:cNvSpPr txBox="1">
            <a:spLocks/>
          </p:cNvSpPr>
          <p:nvPr/>
        </p:nvSpPr>
        <p:spPr>
          <a:xfrm>
            <a:off x="789110" y="4853312"/>
            <a:ext cx="1496890" cy="334161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500" dirty="0" err="1"/>
              <a:t>QueryEngine</a:t>
            </a:r>
            <a:endParaRPr lang="de-DE" sz="1500" dirty="0"/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1EE4EE32-7E81-2B04-5C18-7FCF2157567F}"/>
              </a:ext>
            </a:extLst>
          </p:cNvPr>
          <p:cNvSpPr txBox="1">
            <a:spLocks/>
          </p:cNvSpPr>
          <p:nvPr/>
        </p:nvSpPr>
        <p:spPr>
          <a:xfrm>
            <a:off x="6469631" y="4853311"/>
            <a:ext cx="1496890" cy="334161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500" dirty="0" err="1"/>
              <a:t>IndexerEngine</a:t>
            </a:r>
            <a:endParaRPr lang="de-DE" sz="1500" dirty="0"/>
          </a:p>
        </p:txBody>
      </p:sp>
    </p:spTree>
    <p:extLst>
      <p:ext uri="{BB962C8B-B14F-4D97-AF65-F5344CB8AC3E}">
        <p14:creationId xmlns:p14="http://schemas.microsoft.com/office/powerpoint/2010/main" val="452050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3D98D4-9084-8733-CDA8-1AB6B6BFC8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834C06A-A788-E279-6340-F2A7C42CE0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6" y="671000"/>
            <a:ext cx="2651612" cy="368443"/>
          </a:xfrm>
        </p:spPr>
        <p:txBody>
          <a:bodyPr>
            <a:normAutofit/>
          </a:bodyPr>
          <a:lstStyle/>
          <a:p>
            <a:r>
              <a:rPr lang="de-DE" sz="1600" dirty="0"/>
              <a:t>High-Level </a:t>
            </a:r>
            <a:r>
              <a:rPr lang="de-DE" sz="1600" dirty="0" err="1"/>
              <a:t>Orchestrator</a:t>
            </a:r>
            <a:endParaRPr lang="de-DE" sz="16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0341831-92CA-3E6E-5387-28E588D65EF9}"/>
              </a:ext>
            </a:extLst>
          </p:cNvPr>
          <p:cNvSpPr txBox="1"/>
          <p:nvPr/>
        </p:nvSpPr>
        <p:spPr>
          <a:xfrm>
            <a:off x="3739661" y="439722"/>
            <a:ext cx="5910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/>
              <a:t>Minimal API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 err="1"/>
              <a:t>Orchestrates</a:t>
            </a:r>
            <a:r>
              <a:rPr lang="de-DE" sz="1600" dirty="0"/>
              <a:t>/</a:t>
            </a:r>
            <a:r>
              <a:rPr lang="de-DE" sz="1600" dirty="0" err="1"/>
              <a:t>Delegates</a:t>
            </a:r>
            <a:r>
              <a:rPr lang="de-DE" sz="1600" dirty="0"/>
              <a:t> </a:t>
            </a:r>
            <a:r>
              <a:rPr lang="de-DE" sz="1600" dirty="0" err="1"/>
              <a:t>logic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dirty="0" err="1"/>
              <a:t>engine</a:t>
            </a:r>
            <a:r>
              <a:rPr lang="de-DE" sz="1600" dirty="0"/>
              <a:t> </a:t>
            </a:r>
            <a:r>
              <a:rPr lang="de-DE" sz="1600" dirty="0" err="1"/>
              <a:t>classes</a:t>
            </a:r>
            <a:endParaRPr lang="de-DE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 err="1"/>
              <a:t>Some</a:t>
            </a:r>
            <a:r>
              <a:rPr lang="de-DE" sz="1600" dirty="0"/>
              <a:t> </a:t>
            </a:r>
            <a:r>
              <a:rPr lang="de-DE" sz="1600" dirty="0" err="1"/>
              <a:t>pre</a:t>
            </a:r>
            <a:r>
              <a:rPr lang="de-DE" sz="1600" dirty="0"/>
              <a:t>/</a:t>
            </a:r>
            <a:r>
              <a:rPr lang="de-DE" sz="1600" dirty="0" err="1"/>
              <a:t>post</a:t>
            </a:r>
            <a:r>
              <a:rPr lang="de-DE" sz="1600" dirty="0"/>
              <a:t> </a:t>
            </a:r>
            <a:r>
              <a:rPr lang="de-DE" sz="1600" dirty="0" err="1"/>
              <a:t>processing</a:t>
            </a:r>
            <a:r>
              <a:rPr lang="de-DE" sz="1600" dirty="0"/>
              <a:t> and </a:t>
            </a:r>
            <a:r>
              <a:rPr lang="de-DE" sz="1600" dirty="0" err="1"/>
              <a:t>input</a:t>
            </a:r>
            <a:r>
              <a:rPr lang="de-DE" sz="1600" dirty="0"/>
              <a:t> </a:t>
            </a:r>
            <a:r>
              <a:rPr lang="de-DE" sz="1600" dirty="0" err="1"/>
              <a:t>validation</a:t>
            </a:r>
            <a:endParaRPr lang="de-DE" sz="16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32DFD13-3609-DCE5-CA85-702225D1FEC6}"/>
              </a:ext>
            </a:extLst>
          </p:cNvPr>
          <p:cNvSpPr txBox="1"/>
          <p:nvPr/>
        </p:nvSpPr>
        <p:spPr>
          <a:xfrm>
            <a:off x="5725422" y="6858000"/>
            <a:ext cx="64665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RAG </a:t>
            </a:r>
            <a:r>
              <a:rPr lang="de-DE" sz="1200" dirty="0" err="1"/>
              <a:t>class</a:t>
            </a:r>
            <a:r>
              <a:rPr lang="de-DE" sz="1200" dirty="0"/>
              <a:t> </a:t>
            </a:r>
            <a:r>
              <a:rPr lang="de-DE" sz="1200" dirty="0" err="1"/>
              <a:t>handles</a:t>
            </a:r>
            <a:r>
              <a:rPr lang="de-DE" sz="1200" dirty="0"/>
              <a:t> </a:t>
            </a:r>
            <a:r>
              <a:rPr lang="de-DE" sz="1200" dirty="0" err="1"/>
              <a:t>default</a:t>
            </a:r>
            <a:r>
              <a:rPr lang="de-DE" sz="1200" dirty="0"/>
              <a:t> </a:t>
            </a:r>
            <a:r>
              <a:rPr lang="de-DE" sz="1200" dirty="0" err="1"/>
              <a:t>values</a:t>
            </a:r>
            <a:r>
              <a:rPr lang="de-DE" sz="1200" dirty="0"/>
              <a:t> and </a:t>
            </a:r>
            <a:r>
              <a:rPr lang="de-DE" sz="1200" dirty="0" err="1"/>
              <a:t>input</a:t>
            </a:r>
            <a:r>
              <a:rPr lang="de-DE" sz="1200" dirty="0"/>
              <a:t> </a:t>
            </a:r>
            <a:r>
              <a:rPr lang="de-DE" sz="1200" dirty="0" err="1"/>
              <a:t>validation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 err="1"/>
              <a:t>GraphDB</a:t>
            </a:r>
            <a:r>
              <a:rPr lang="de-DE" sz="1200" dirty="0"/>
              <a:t> und </a:t>
            </a:r>
            <a:r>
              <a:rPr lang="de-DE" sz="1200" dirty="0" err="1"/>
              <a:t>VectorDB</a:t>
            </a:r>
            <a:r>
              <a:rPr lang="de-DE" sz="1200" dirty="0"/>
              <a:t> </a:t>
            </a:r>
            <a:r>
              <a:rPr lang="de-DE" sz="1200" dirty="0" err="1"/>
              <a:t>input</a:t>
            </a:r>
            <a:r>
              <a:rPr lang="de-DE" sz="1200" dirty="0"/>
              <a:t> </a:t>
            </a:r>
            <a:r>
              <a:rPr lang="de-DE" sz="1200" dirty="0" err="1"/>
              <a:t>validation</a:t>
            </a:r>
            <a:r>
              <a:rPr lang="de-DE" sz="1200" dirty="0"/>
              <a:t> auslagern zu den </a:t>
            </a:r>
            <a:r>
              <a:rPr lang="de-DE" sz="1200" dirty="0" err="1"/>
              <a:t>low</a:t>
            </a:r>
            <a:r>
              <a:rPr lang="de-DE" sz="1200" dirty="0"/>
              <a:t> </a:t>
            </a:r>
            <a:r>
              <a:rPr lang="de-DE" sz="1200" dirty="0" err="1"/>
              <a:t>level</a:t>
            </a:r>
            <a:r>
              <a:rPr lang="de-DE" sz="1200" dirty="0"/>
              <a:t> </a:t>
            </a:r>
            <a:r>
              <a:rPr lang="de-DE" sz="1200" dirty="0" err="1"/>
              <a:t>indexer</a:t>
            </a:r>
            <a:r>
              <a:rPr lang="de-DE" sz="1200" dirty="0"/>
              <a:t> und </a:t>
            </a:r>
            <a:r>
              <a:rPr lang="de-DE" sz="1200" dirty="0" err="1"/>
              <a:t>retriever</a:t>
            </a:r>
            <a:r>
              <a:rPr lang="de-DE" sz="1200" dirty="0"/>
              <a:t> Klassen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200" dirty="0"/>
              <a:t>Damit für jede Klasse eigene Default Database </a:t>
            </a:r>
            <a:r>
              <a:rPr lang="de-DE" sz="1200" dirty="0" err="1"/>
              <a:t>settings</a:t>
            </a:r>
            <a:r>
              <a:rPr lang="de-DE" sz="1200" dirty="0"/>
              <a:t> geschrieben werden können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DF3C751-095E-4091-EB71-D215DDB88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6" y="1628276"/>
            <a:ext cx="9761286" cy="479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96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B7C67-6CD8-68DF-7284-6BF6832DB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17CF0B-01B6-9B7B-E7C3-51B67E0B78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03B0267-2DE8-B670-EBCE-E126B3D39B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6" y="671000"/>
            <a:ext cx="2651612" cy="368443"/>
          </a:xfrm>
        </p:spPr>
        <p:txBody>
          <a:bodyPr>
            <a:normAutofit/>
          </a:bodyPr>
          <a:lstStyle/>
          <a:p>
            <a:r>
              <a:rPr lang="de-DE" sz="1600" dirty="0"/>
              <a:t>Mid-Level </a:t>
            </a:r>
            <a:r>
              <a:rPr lang="de-DE" sz="1600" dirty="0" err="1"/>
              <a:t>Orchestrator</a:t>
            </a:r>
            <a:endParaRPr lang="de-DE" sz="16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1A8FD22-552D-76E2-FFDD-C4C877D14FD9}"/>
              </a:ext>
            </a:extLst>
          </p:cNvPr>
          <p:cNvSpPr txBox="1"/>
          <p:nvPr/>
        </p:nvSpPr>
        <p:spPr>
          <a:xfrm>
            <a:off x="3696561" y="439722"/>
            <a:ext cx="5910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/>
              <a:t>Minimal API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 err="1"/>
              <a:t>Orchestrates</a:t>
            </a:r>
            <a:r>
              <a:rPr lang="de-DE" sz="1600" dirty="0"/>
              <a:t>/</a:t>
            </a:r>
            <a:r>
              <a:rPr lang="de-DE" sz="1600" dirty="0" err="1"/>
              <a:t>Delegates</a:t>
            </a:r>
            <a:r>
              <a:rPr lang="de-DE" sz="1600" dirty="0"/>
              <a:t> </a:t>
            </a:r>
            <a:r>
              <a:rPr lang="de-DE" sz="1600" dirty="0" err="1"/>
              <a:t>logic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dirty="0" err="1"/>
              <a:t>Indexer</a:t>
            </a:r>
            <a:r>
              <a:rPr lang="de-DE" sz="1600" dirty="0"/>
              <a:t> </a:t>
            </a:r>
            <a:r>
              <a:rPr lang="de-DE" sz="1600" dirty="0" err="1"/>
              <a:t>classes</a:t>
            </a:r>
            <a:endParaRPr lang="de-DE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 err="1"/>
              <a:t>Some</a:t>
            </a:r>
            <a:r>
              <a:rPr lang="de-DE" sz="1600" dirty="0"/>
              <a:t> </a:t>
            </a:r>
            <a:r>
              <a:rPr lang="de-DE" sz="1600" dirty="0" err="1"/>
              <a:t>pre</a:t>
            </a:r>
            <a:r>
              <a:rPr lang="de-DE" sz="1600" dirty="0"/>
              <a:t>/</a:t>
            </a:r>
            <a:r>
              <a:rPr lang="de-DE" sz="1600" dirty="0" err="1"/>
              <a:t>post</a:t>
            </a:r>
            <a:r>
              <a:rPr lang="de-DE" sz="1600" dirty="0"/>
              <a:t> </a:t>
            </a:r>
            <a:r>
              <a:rPr lang="de-DE" sz="1600" dirty="0" err="1"/>
              <a:t>processing</a:t>
            </a:r>
            <a:r>
              <a:rPr lang="de-DE" sz="1600" dirty="0"/>
              <a:t> and </a:t>
            </a:r>
            <a:r>
              <a:rPr lang="de-DE" sz="1600" dirty="0" err="1"/>
              <a:t>input</a:t>
            </a:r>
            <a:r>
              <a:rPr lang="de-DE" sz="1600" dirty="0"/>
              <a:t> </a:t>
            </a:r>
            <a:r>
              <a:rPr lang="de-DE" sz="1600" dirty="0" err="1"/>
              <a:t>validation</a:t>
            </a:r>
            <a:endParaRPr lang="de-DE" sz="1600" dirty="0"/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B3E4D7DC-7CF6-AC6F-0660-56E6BC05ACC0}"/>
              </a:ext>
            </a:extLst>
          </p:cNvPr>
          <p:cNvSpPr txBox="1">
            <a:spLocks/>
          </p:cNvSpPr>
          <p:nvPr/>
        </p:nvSpPr>
        <p:spPr>
          <a:xfrm>
            <a:off x="695326" y="5535942"/>
            <a:ext cx="1854444" cy="406866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 err="1"/>
              <a:t>Responsibile</a:t>
            </a:r>
            <a:r>
              <a:rPr lang="de-DE" sz="1600" dirty="0"/>
              <a:t> </a:t>
            </a:r>
            <a:r>
              <a:rPr lang="de-DE" sz="1600" dirty="0" err="1"/>
              <a:t>for</a:t>
            </a:r>
            <a:r>
              <a:rPr lang="de-DE" sz="1600" dirty="0"/>
              <a:t>: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0EDDB01-2F67-CFD2-D450-C322D1568353}"/>
              </a:ext>
            </a:extLst>
          </p:cNvPr>
          <p:cNvSpPr txBox="1"/>
          <p:nvPr/>
        </p:nvSpPr>
        <p:spPr>
          <a:xfrm>
            <a:off x="2819400" y="5535942"/>
            <a:ext cx="42386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Selecting the correct Indexer implementation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Setting up the custom indexer config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Chunking, embedding, and storing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Indexing related pre- and postprocessing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D642447-B2C7-BC22-6938-CBDB621A88B5}"/>
              </a:ext>
            </a:extLst>
          </p:cNvPr>
          <p:cNvSpPr txBox="1"/>
          <p:nvPr/>
        </p:nvSpPr>
        <p:spPr>
          <a:xfrm>
            <a:off x="6194679" y="5796614"/>
            <a:ext cx="511419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ym typeface="Wingdings" panose="05000000000000000000" pitchFamily="2" charset="2"/>
              </a:rPr>
              <a:t> e.g. g</a:t>
            </a:r>
            <a:r>
              <a:rPr lang="en-US" sz="1300" dirty="0"/>
              <a:t>raph config (edge strategy, thresholds, etc.)</a:t>
            </a:r>
            <a:endParaRPr lang="de-DE" sz="13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3AFD1E4-00EB-E4A5-EE78-1AC904212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6" y="1519493"/>
            <a:ext cx="8614460" cy="363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4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65218-E103-A47A-5C91-7B9145502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1AEF6F-22FA-E12E-033C-7475C8FDDB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9A3D478-72F6-F748-25C5-A99DAEDA90E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6" y="671000"/>
            <a:ext cx="2651612" cy="368443"/>
          </a:xfrm>
        </p:spPr>
        <p:txBody>
          <a:bodyPr>
            <a:normAutofit/>
          </a:bodyPr>
          <a:lstStyle/>
          <a:p>
            <a:r>
              <a:rPr lang="de-DE" sz="1600" dirty="0"/>
              <a:t>Mid-Level </a:t>
            </a:r>
            <a:r>
              <a:rPr lang="de-DE" sz="1600" dirty="0" err="1"/>
              <a:t>Orchestrator</a:t>
            </a:r>
            <a:endParaRPr lang="de-DE" sz="16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CDBCD6D-BA26-856B-57B9-2223FC4A2458}"/>
              </a:ext>
            </a:extLst>
          </p:cNvPr>
          <p:cNvSpPr txBox="1"/>
          <p:nvPr/>
        </p:nvSpPr>
        <p:spPr>
          <a:xfrm>
            <a:off x="3693866" y="439722"/>
            <a:ext cx="5910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/>
              <a:t>Minimal API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 err="1"/>
              <a:t>Orchestrates</a:t>
            </a:r>
            <a:r>
              <a:rPr lang="de-DE" sz="1600" dirty="0"/>
              <a:t>/</a:t>
            </a:r>
            <a:r>
              <a:rPr lang="de-DE" sz="1600" dirty="0" err="1"/>
              <a:t>Delegates</a:t>
            </a:r>
            <a:r>
              <a:rPr lang="de-DE" sz="1600" dirty="0"/>
              <a:t> </a:t>
            </a:r>
            <a:r>
              <a:rPr lang="de-DE" sz="1600" dirty="0" err="1"/>
              <a:t>logic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Retriever </a:t>
            </a:r>
            <a:r>
              <a:rPr lang="de-DE" sz="1600" dirty="0" err="1"/>
              <a:t>classes</a:t>
            </a:r>
            <a:endParaRPr lang="de-DE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600" dirty="0" err="1"/>
              <a:t>Some</a:t>
            </a:r>
            <a:r>
              <a:rPr lang="de-DE" sz="1600" dirty="0"/>
              <a:t> </a:t>
            </a:r>
            <a:r>
              <a:rPr lang="de-DE" sz="1600" dirty="0" err="1"/>
              <a:t>pre</a:t>
            </a:r>
            <a:r>
              <a:rPr lang="de-DE" sz="1600" dirty="0"/>
              <a:t>/</a:t>
            </a:r>
            <a:r>
              <a:rPr lang="de-DE" sz="1600" dirty="0" err="1"/>
              <a:t>post</a:t>
            </a:r>
            <a:r>
              <a:rPr lang="de-DE" sz="1600" dirty="0"/>
              <a:t> </a:t>
            </a:r>
            <a:r>
              <a:rPr lang="de-DE" sz="1600" dirty="0" err="1"/>
              <a:t>processing</a:t>
            </a:r>
            <a:r>
              <a:rPr lang="de-DE" sz="1600" dirty="0"/>
              <a:t> and </a:t>
            </a:r>
            <a:r>
              <a:rPr lang="de-DE" sz="1600" dirty="0" err="1"/>
              <a:t>input</a:t>
            </a:r>
            <a:r>
              <a:rPr lang="de-DE" sz="1600" dirty="0"/>
              <a:t> </a:t>
            </a:r>
            <a:r>
              <a:rPr lang="de-DE" sz="1600" dirty="0" err="1"/>
              <a:t>validation</a:t>
            </a:r>
            <a:endParaRPr lang="de-DE" sz="1600" dirty="0"/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C861D06E-81A5-0CE2-E6E3-10DF6B206D84}"/>
              </a:ext>
            </a:extLst>
          </p:cNvPr>
          <p:cNvSpPr txBox="1">
            <a:spLocks/>
          </p:cNvSpPr>
          <p:nvPr/>
        </p:nvSpPr>
        <p:spPr>
          <a:xfrm>
            <a:off x="695326" y="5535942"/>
            <a:ext cx="1854444" cy="406866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 err="1"/>
              <a:t>Responsibile</a:t>
            </a:r>
            <a:r>
              <a:rPr lang="de-DE" sz="1600" dirty="0"/>
              <a:t> </a:t>
            </a:r>
            <a:r>
              <a:rPr lang="de-DE" sz="1600" dirty="0" err="1"/>
              <a:t>for</a:t>
            </a:r>
            <a:r>
              <a:rPr lang="de-DE" sz="1600" dirty="0"/>
              <a:t>: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631794D-706E-3C18-57D3-6E4510950708}"/>
              </a:ext>
            </a:extLst>
          </p:cNvPr>
          <p:cNvSpPr txBox="1"/>
          <p:nvPr/>
        </p:nvSpPr>
        <p:spPr>
          <a:xfrm>
            <a:off x="2743200" y="5262017"/>
            <a:ext cx="73034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Selecting the correct retrieval implementation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Embedding queries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Setting up the custom indexer config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Retrieval related preprocessing (Clean or chunk user input, normalize query)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Retrieval related postprocessing (Parse, clean, or re-rank the response)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E11CBB9-9186-CA1E-7F3E-69C939E62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6" y="1482080"/>
            <a:ext cx="8531671" cy="361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881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D576B-FEE2-CF9E-8E1E-79783089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EB427B-B9A7-28C8-B9F4-B377A12F7E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9E186EA-CE4F-070C-C845-3521949714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6" y="671000"/>
            <a:ext cx="2651612" cy="368443"/>
          </a:xfrm>
        </p:spPr>
        <p:txBody>
          <a:bodyPr>
            <a:normAutofit/>
          </a:bodyPr>
          <a:lstStyle/>
          <a:p>
            <a:r>
              <a:rPr lang="de-DE" sz="1600" dirty="0"/>
              <a:t>Low-Level Classes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8998CB8-E7CA-0DF1-D5A9-7B66FF2DD005}"/>
              </a:ext>
            </a:extLst>
          </p:cNvPr>
          <p:cNvSpPr txBox="1"/>
          <p:nvPr/>
        </p:nvSpPr>
        <p:spPr>
          <a:xfrm>
            <a:off x="3463052" y="716278"/>
            <a:ext cx="589610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1500" dirty="0"/>
              <a:t>Implementation </a:t>
            </a:r>
            <a:r>
              <a:rPr lang="de-DE" sz="1500" dirty="0" err="1"/>
              <a:t>of</a:t>
            </a:r>
            <a:r>
              <a:rPr lang="de-DE" sz="1500" dirty="0"/>
              <a:t> </a:t>
            </a:r>
            <a:r>
              <a:rPr lang="de-DE" sz="1500" dirty="0" err="1"/>
              <a:t>the</a:t>
            </a:r>
            <a:r>
              <a:rPr lang="de-DE" sz="1500" dirty="0"/>
              <a:t> </a:t>
            </a:r>
            <a:r>
              <a:rPr lang="de-DE" sz="1500" dirty="0" err="1"/>
              <a:t>indexing</a:t>
            </a:r>
            <a:r>
              <a:rPr lang="de-DE" sz="1500" dirty="0"/>
              <a:t> and </a:t>
            </a:r>
            <a:r>
              <a:rPr lang="de-DE" sz="1500" dirty="0" err="1"/>
              <a:t>retrieval</a:t>
            </a:r>
            <a:r>
              <a:rPr lang="de-DE" sz="1500" dirty="0"/>
              <a:t> </a:t>
            </a:r>
            <a:r>
              <a:rPr lang="de-DE" sz="1500" dirty="0" err="1"/>
              <a:t>techniques</a:t>
            </a:r>
            <a:endParaRPr lang="de-DE" sz="15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30C5024-6351-F795-0AF9-9C872454AB22}"/>
              </a:ext>
            </a:extLst>
          </p:cNvPr>
          <p:cNvSpPr txBox="1"/>
          <p:nvPr/>
        </p:nvSpPr>
        <p:spPr>
          <a:xfrm>
            <a:off x="905779" y="4726066"/>
            <a:ext cx="44583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Config: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Document Chunking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Node Construction (e.g., sentence, paragraph)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Edge Creation (e.g., semantic similarity, citation, co-reference)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Graph Building (</a:t>
            </a:r>
            <a:r>
              <a:rPr lang="en-US" sz="1200" dirty="0" err="1"/>
              <a:t>networkx</a:t>
            </a:r>
            <a:r>
              <a:rPr lang="en-US" sz="1200" dirty="0"/>
              <a:t>, DGL, etc.)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Graph Persistence (save/load structure to disk)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Embedding (nodes, edges, etc.)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LLM-Assisted Preprocessing (e.g., topic labeling, metadata)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Graph Enrichment (optional: summarization, classification)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Graph Storage Backend Integration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D4DE6C7-B2C3-846E-1EB5-C4B790669124}"/>
              </a:ext>
            </a:extLst>
          </p:cNvPr>
          <p:cNvSpPr txBox="1"/>
          <p:nvPr/>
        </p:nvSpPr>
        <p:spPr>
          <a:xfrm>
            <a:off x="6178061" y="4633733"/>
            <a:ext cx="392446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Config: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Query Embedding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Graph Traversal (e.g., BFS, DFS, Personalized)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Node Filtering (e.g., by type, relevance)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Similarity Search (embedding-based)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Top-K Selection (most relevant nodes/chunks)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Context Assembly (for prompting the LLM)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Reranking (optional: scoring model)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Prompt Preparation (with context + question)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LLM Answer Call (returns final answer)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Graph-Aware Retrieval Logic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64539B6-B51F-C250-52F1-4C02DD7A9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87" y="1674034"/>
            <a:ext cx="4711907" cy="266501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CC6CE37-DCE0-F234-0374-D4E6E44C4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74033"/>
            <a:ext cx="4760408" cy="266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423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3EC39-4979-02BE-1970-601FF66F7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47148A-2349-C14D-7A54-245FC216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Instantiation</a:t>
            </a:r>
            <a:r>
              <a:rPr lang="de-DE" dirty="0"/>
              <a:t> Options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FF8DA7-DAF8-5EDA-47BB-7F85C18EF1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43D67872-F430-8530-6705-ACECE85FB72A}"/>
              </a:ext>
            </a:extLst>
          </p:cNvPr>
          <p:cNvSpPr/>
          <p:nvPr/>
        </p:nvSpPr>
        <p:spPr>
          <a:xfrm>
            <a:off x="431557" y="2320506"/>
            <a:ext cx="4889880" cy="446189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600" b="1" dirty="0">
              <a:solidFill>
                <a:schemeClr val="tx1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rgbClr val="5DC1FF"/>
                </a:solidFill>
              </a:rPr>
              <a:t>rag</a:t>
            </a:r>
            <a:r>
              <a:rPr lang="de-DE" sz="1600" b="1" dirty="0">
                <a:solidFill>
                  <a:schemeClr val="tx1"/>
                </a:solidFill>
              </a:rPr>
              <a:t> = RAG(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documents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docs_path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graph_db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db_name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vector_db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db_name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indexer_name</a:t>
            </a:r>
            <a:r>
              <a:rPr lang="de-DE" sz="1600" dirty="0">
                <a:solidFill>
                  <a:schemeClr val="tx1"/>
                </a:solidFill>
              </a:rPr>
              <a:t>,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retriever_name</a:t>
            </a:r>
            <a:r>
              <a:rPr lang="de-DE" sz="1600" dirty="0">
                <a:solidFill>
                  <a:schemeClr val="tx1"/>
                </a:solidFill>
              </a:rPr>
              <a:t>,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llm_index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my_llm</a:t>
            </a:r>
            <a:r>
              <a:rPr lang="de-DE" sz="1600" dirty="0">
                <a:solidFill>
                  <a:schemeClr val="tx1"/>
                </a:solidFill>
              </a:rPr>
              <a:t>,	 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r>
              <a:rPr lang="de-DE" sz="1600" b="1" dirty="0">
                <a:solidFill>
                  <a:schemeClr val="tx1"/>
                </a:solidFill>
              </a:rPr>
              <a:t>              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llm_query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my_llm</a:t>
            </a:r>
            <a:r>
              <a:rPr lang="de-DE" sz="1600" dirty="0">
                <a:solidFill>
                  <a:schemeClr val="tx1"/>
                </a:solidFill>
              </a:rPr>
              <a:t>,	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 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embedding_model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my_emb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37B0FB"/>
                </a:solidFill>
              </a:rPr>
              <a:t>rag</a:t>
            </a:r>
            <a:r>
              <a:rPr lang="de-DE" sz="1600" b="1" dirty="0" err="1">
                <a:solidFill>
                  <a:schemeClr val="tx1"/>
                </a:solidFill>
              </a:rPr>
              <a:t>.</a:t>
            </a:r>
            <a:r>
              <a:rPr lang="de-DE" sz="1600" b="1" dirty="0" err="1">
                <a:solidFill>
                  <a:srgbClr val="00B000"/>
                </a:solidFill>
              </a:rPr>
              <a:t>index</a:t>
            </a:r>
            <a:r>
              <a:rPr lang="de-DE" sz="1600" b="1" dirty="0">
                <a:solidFill>
                  <a:srgbClr val="00B000"/>
                </a:solidFill>
              </a:rPr>
              <a:t>()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answer = </a:t>
            </a:r>
            <a:r>
              <a:rPr lang="en-US" sz="1600" b="1" dirty="0" err="1">
                <a:solidFill>
                  <a:srgbClr val="5DC1FF"/>
                </a:solidFill>
              </a:rPr>
              <a:t>rag</a:t>
            </a:r>
            <a:r>
              <a:rPr lang="en-US" sz="1600" b="1" dirty="0" err="1">
                <a:solidFill>
                  <a:schemeClr val="tx1"/>
                </a:solidFill>
              </a:rPr>
              <a:t>.</a:t>
            </a:r>
            <a:r>
              <a:rPr lang="en-US" sz="1600" b="1" dirty="0" err="1">
                <a:solidFill>
                  <a:srgbClr val="00B000"/>
                </a:solidFill>
              </a:rPr>
              <a:t>query</a:t>
            </a:r>
            <a:r>
              <a:rPr lang="en-US" sz="1600" b="1" dirty="0">
                <a:solidFill>
                  <a:srgbClr val="00B000"/>
                </a:solidFill>
              </a:rPr>
              <a:t>("What is the role of X?")</a:t>
            </a:r>
            <a:endParaRPr lang="de-DE" sz="1600" b="1" dirty="0">
              <a:solidFill>
                <a:srgbClr val="00B000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  <a:p>
            <a:pPr algn="ctr"/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1C38E84-1D9A-A08F-6851-428C24BB431F}"/>
              </a:ext>
            </a:extLst>
          </p:cNvPr>
          <p:cNvSpPr txBox="1"/>
          <p:nvPr/>
        </p:nvSpPr>
        <p:spPr>
          <a:xfrm>
            <a:off x="2063364" y="1935785"/>
            <a:ext cx="22772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900" b="1" dirty="0"/>
              <a:t>Custom API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11A2236-A3E6-8935-500C-3A0B08CCBD76}"/>
              </a:ext>
            </a:extLst>
          </p:cNvPr>
          <p:cNvSpPr txBox="1"/>
          <p:nvPr/>
        </p:nvSpPr>
        <p:spPr>
          <a:xfrm>
            <a:off x="7262255" y="75600"/>
            <a:ext cx="260691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900" b="1" dirty="0"/>
              <a:t>Custom API Variant 1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78E0BB49-F0EB-1A5C-8F57-50465977A6ED}"/>
              </a:ext>
            </a:extLst>
          </p:cNvPr>
          <p:cNvSpPr/>
          <p:nvPr/>
        </p:nvSpPr>
        <p:spPr>
          <a:xfrm>
            <a:off x="6007399" y="460321"/>
            <a:ext cx="4889880" cy="632207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 err="1">
                <a:solidFill>
                  <a:srgbClr val="00B000"/>
                </a:solidFill>
              </a:rPr>
              <a:t>config_indexer</a:t>
            </a:r>
            <a:r>
              <a:rPr lang="de-DE" sz="1600" b="1" dirty="0">
                <a:solidFill>
                  <a:schemeClr val="tx1"/>
                </a:solidFill>
              </a:rPr>
              <a:t> = {		</a:t>
            </a:r>
            <a:r>
              <a:rPr lang="de-DE" sz="1600" i="1" dirty="0">
                <a:solidFill>
                  <a:schemeClr val="tx1"/>
                </a:solidFill>
              </a:rPr>
              <a:t>(</a:t>
            </a:r>
            <a:r>
              <a:rPr lang="de-DE" sz="1600" i="1" dirty="0" err="1">
                <a:solidFill>
                  <a:schemeClr val="tx1"/>
                </a:solidFill>
              </a:rPr>
              <a:t>custom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chunk_size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chunk_size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chunk_overlap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chunk_overlap</a:t>
            </a:r>
            <a:r>
              <a:rPr lang="de-DE" sz="1600" b="1" dirty="0">
                <a:solidFill>
                  <a:schemeClr val="tx1"/>
                </a:solidFill>
              </a:rPr>
              <a:t>, 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}</a:t>
            </a:r>
          </a:p>
          <a:p>
            <a:r>
              <a:rPr lang="de-DE" sz="1600" b="1" dirty="0" err="1">
                <a:solidFill>
                  <a:srgbClr val="00B000"/>
                </a:solidFill>
              </a:rPr>
              <a:t>config_retriever</a:t>
            </a:r>
            <a:r>
              <a:rPr lang="de-DE" sz="1600" b="1" dirty="0">
                <a:solidFill>
                  <a:schemeClr val="tx1"/>
                </a:solidFill>
              </a:rPr>
              <a:t> = {		</a:t>
            </a:r>
            <a:r>
              <a:rPr lang="de-DE" sz="1600" i="1" dirty="0">
                <a:solidFill>
                  <a:schemeClr val="tx1"/>
                </a:solidFill>
              </a:rPr>
              <a:t>(</a:t>
            </a:r>
            <a:r>
              <a:rPr lang="de-DE" sz="1600" i="1" dirty="0" err="1">
                <a:solidFill>
                  <a:schemeClr val="tx1"/>
                </a:solidFill>
              </a:rPr>
              <a:t>custom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top_k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>
                <a:solidFill>
                  <a:schemeClr val="tx1"/>
                </a:solidFill>
              </a:rPr>
              <a:t>15,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similarity_metric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>
                <a:solidFill>
                  <a:schemeClr val="tx1"/>
                </a:solidFill>
              </a:rPr>
              <a:t>„</a:t>
            </a:r>
            <a:r>
              <a:rPr lang="de-DE" sz="1600" dirty="0" err="1">
                <a:solidFill>
                  <a:schemeClr val="tx1"/>
                </a:solidFill>
              </a:rPr>
              <a:t>cosine</a:t>
            </a:r>
            <a:r>
              <a:rPr lang="de-DE" sz="1600" dirty="0">
                <a:solidFill>
                  <a:schemeClr val="tx1"/>
                </a:solidFill>
              </a:rPr>
              <a:t>“,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}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rgbClr val="5DC1FF"/>
                </a:solidFill>
              </a:rPr>
              <a:t>rag</a:t>
            </a:r>
            <a:r>
              <a:rPr lang="de-DE" sz="1600" b="1" dirty="0">
                <a:solidFill>
                  <a:schemeClr val="tx1"/>
                </a:solidFill>
              </a:rPr>
              <a:t> = RAG(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>
                <a:solidFill>
                  <a:schemeClr val="tx1"/>
                </a:solidFill>
              </a:rPr>
              <a:t>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 err="1">
                <a:solidFill>
                  <a:schemeClr val="tx1"/>
                </a:solidFill>
              </a:rPr>
              <a:t>indexer_name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 err="1">
                <a:solidFill>
                  <a:schemeClr val="tx1"/>
                </a:solidFill>
              </a:rPr>
              <a:t>retriever_name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indexer_config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dirty="0" err="1">
                <a:solidFill>
                  <a:srgbClr val="00B000"/>
                </a:solidFill>
              </a:rPr>
              <a:t>config_indexer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retriever_config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b="1" dirty="0" err="1">
                <a:solidFill>
                  <a:srgbClr val="00B000"/>
                </a:solidFill>
              </a:rPr>
              <a:t>config_retriever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>
                <a:solidFill>
                  <a:schemeClr val="tx1"/>
                </a:solidFill>
              </a:rPr>
              <a:t>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37B0FB"/>
                </a:solidFill>
              </a:rPr>
              <a:t>rag</a:t>
            </a:r>
            <a:r>
              <a:rPr lang="de-DE" sz="1600" b="1" dirty="0" err="1">
                <a:solidFill>
                  <a:schemeClr val="tx1"/>
                </a:solidFill>
              </a:rPr>
              <a:t>.</a:t>
            </a:r>
            <a:r>
              <a:rPr lang="de-DE" sz="1600" b="1" dirty="0" err="1">
                <a:solidFill>
                  <a:srgbClr val="00B000"/>
                </a:solidFill>
              </a:rPr>
              <a:t>index</a:t>
            </a:r>
            <a:r>
              <a:rPr lang="de-DE" sz="1600" b="1" dirty="0">
                <a:solidFill>
                  <a:srgbClr val="00B000"/>
                </a:solidFill>
              </a:rPr>
              <a:t>()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answer = </a:t>
            </a:r>
            <a:r>
              <a:rPr lang="en-US" sz="1600" b="1" dirty="0" err="1">
                <a:solidFill>
                  <a:srgbClr val="5DC1FF"/>
                </a:solidFill>
              </a:rPr>
              <a:t>rag</a:t>
            </a:r>
            <a:r>
              <a:rPr lang="en-US" sz="1600" b="1" dirty="0" err="1">
                <a:solidFill>
                  <a:schemeClr val="tx1"/>
                </a:solidFill>
              </a:rPr>
              <a:t>.query</a:t>
            </a:r>
            <a:r>
              <a:rPr lang="en-US" sz="1600" b="1" dirty="0">
                <a:solidFill>
                  <a:schemeClr val="tx1"/>
                </a:solidFill>
              </a:rPr>
              <a:t>("What is the role of X?")</a:t>
            </a:r>
            <a:endParaRPr lang="de-DE" sz="1600" b="1" dirty="0">
              <a:solidFill>
                <a:schemeClr val="tx1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395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A2DFD-A530-0253-F8C8-44DCF0AF9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893513-3607-199D-DD55-C976DA349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Instantiation</a:t>
            </a:r>
            <a:r>
              <a:rPr lang="de-DE" dirty="0"/>
              <a:t> Options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80C292-DAEE-5434-C1A9-990FDA307A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0CCACADB-4731-C5B2-4B08-2E9DA6E1C379}"/>
              </a:ext>
            </a:extLst>
          </p:cNvPr>
          <p:cNvSpPr/>
          <p:nvPr/>
        </p:nvSpPr>
        <p:spPr>
          <a:xfrm>
            <a:off x="431557" y="2320506"/>
            <a:ext cx="4889880" cy="446189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600" b="1" dirty="0">
              <a:solidFill>
                <a:schemeClr val="tx1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rgbClr val="5DC1FF"/>
                </a:solidFill>
              </a:rPr>
              <a:t>rag</a:t>
            </a:r>
            <a:r>
              <a:rPr lang="de-DE" sz="1600" b="1" dirty="0">
                <a:solidFill>
                  <a:schemeClr val="tx1"/>
                </a:solidFill>
              </a:rPr>
              <a:t> = RAG(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documents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docs_path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graph_db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db_name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vector_db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db_name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indexer_name</a:t>
            </a:r>
            <a:r>
              <a:rPr lang="de-DE" sz="1600" dirty="0">
                <a:solidFill>
                  <a:schemeClr val="tx1"/>
                </a:solidFill>
              </a:rPr>
              <a:t>,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retriever_name</a:t>
            </a:r>
            <a:r>
              <a:rPr lang="de-DE" sz="1600" dirty="0">
                <a:solidFill>
                  <a:schemeClr val="tx1"/>
                </a:solidFill>
              </a:rPr>
              <a:t>,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llm_index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my_llm</a:t>
            </a:r>
            <a:r>
              <a:rPr lang="de-DE" sz="1600" dirty="0">
                <a:solidFill>
                  <a:schemeClr val="tx1"/>
                </a:solidFill>
              </a:rPr>
              <a:t>,	 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r>
              <a:rPr lang="de-DE" sz="1600" b="1" dirty="0">
                <a:solidFill>
                  <a:schemeClr val="tx1"/>
                </a:solidFill>
              </a:rPr>
              <a:t>              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llm_query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my_llm</a:t>
            </a:r>
            <a:r>
              <a:rPr lang="de-DE" sz="1600" dirty="0">
                <a:solidFill>
                  <a:schemeClr val="tx1"/>
                </a:solidFill>
              </a:rPr>
              <a:t>,	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 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embedding_model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my_emb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37B0FB"/>
                </a:solidFill>
              </a:rPr>
              <a:t>rag</a:t>
            </a:r>
            <a:r>
              <a:rPr lang="de-DE" sz="1600" b="1" dirty="0" err="1">
                <a:solidFill>
                  <a:schemeClr val="tx1"/>
                </a:solidFill>
              </a:rPr>
              <a:t>.</a:t>
            </a:r>
            <a:r>
              <a:rPr lang="de-DE" sz="1600" b="1" dirty="0" err="1">
                <a:solidFill>
                  <a:srgbClr val="00B000"/>
                </a:solidFill>
              </a:rPr>
              <a:t>index</a:t>
            </a:r>
            <a:r>
              <a:rPr lang="de-DE" sz="1600" b="1" dirty="0">
                <a:solidFill>
                  <a:srgbClr val="00B000"/>
                </a:solidFill>
              </a:rPr>
              <a:t>()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answer = </a:t>
            </a:r>
            <a:r>
              <a:rPr lang="en-US" sz="1600" b="1" dirty="0" err="1">
                <a:solidFill>
                  <a:srgbClr val="5DC1FF"/>
                </a:solidFill>
              </a:rPr>
              <a:t>rag</a:t>
            </a:r>
            <a:r>
              <a:rPr lang="en-US" sz="1600" b="1" dirty="0" err="1">
                <a:solidFill>
                  <a:schemeClr val="tx1"/>
                </a:solidFill>
              </a:rPr>
              <a:t>.</a:t>
            </a:r>
            <a:r>
              <a:rPr lang="en-US" sz="1600" b="1" dirty="0" err="1">
                <a:solidFill>
                  <a:srgbClr val="00B000"/>
                </a:solidFill>
              </a:rPr>
              <a:t>query</a:t>
            </a:r>
            <a:r>
              <a:rPr lang="en-US" sz="1600" b="1" dirty="0">
                <a:solidFill>
                  <a:srgbClr val="00B000"/>
                </a:solidFill>
              </a:rPr>
              <a:t>("What is the role of X?")</a:t>
            </a:r>
            <a:endParaRPr lang="de-DE" sz="1600" b="1" dirty="0">
              <a:solidFill>
                <a:srgbClr val="00B000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  <a:p>
            <a:pPr algn="ctr"/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FE7BE70-0AEE-81E3-C5EF-159ADDDA3A64}"/>
              </a:ext>
            </a:extLst>
          </p:cNvPr>
          <p:cNvSpPr txBox="1"/>
          <p:nvPr/>
        </p:nvSpPr>
        <p:spPr>
          <a:xfrm>
            <a:off x="2063364" y="1935785"/>
            <a:ext cx="22772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900" b="1" dirty="0"/>
              <a:t>Custom API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9F13BA0-70F0-0E4A-DB01-91D28DD968B6}"/>
              </a:ext>
            </a:extLst>
          </p:cNvPr>
          <p:cNvSpPr txBox="1"/>
          <p:nvPr/>
        </p:nvSpPr>
        <p:spPr>
          <a:xfrm>
            <a:off x="7174276" y="75600"/>
            <a:ext cx="260691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900" b="1" dirty="0"/>
              <a:t>Custom API Variant 2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BB09301A-E386-2AF1-32C3-1A12E4E8D001}"/>
              </a:ext>
            </a:extLst>
          </p:cNvPr>
          <p:cNvSpPr/>
          <p:nvPr/>
        </p:nvSpPr>
        <p:spPr>
          <a:xfrm>
            <a:off x="5836023" y="460321"/>
            <a:ext cx="5283425" cy="632207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00B000"/>
                </a:solidFill>
              </a:rPr>
              <a:t>config_indexer</a:t>
            </a:r>
            <a:r>
              <a:rPr lang="de-DE" sz="1600" b="1" dirty="0">
                <a:solidFill>
                  <a:schemeClr val="tx1"/>
                </a:solidFill>
              </a:rPr>
              <a:t> = {		</a:t>
            </a:r>
            <a:r>
              <a:rPr lang="de-DE" sz="1600" i="1" dirty="0">
                <a:solidFill>
                  <a:schemeClr val="tx1"/>
                </a:solidFill>
              </a:rPr>
              <a:t>(</a:t>
            </a:r>
            <a:r>
              <a:rPr lang="de-DE" sz="1600" i="1" dirty="0" err="1">
                <a:solidFill>
                  <a:schemeClr val="tx1"/>
                </a:solidFill>
              </a:rPr>
              <a:t>custom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chunk_size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chunk_size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chunk_overlap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chunk_overlap</a:t>
            </a:r>
            <a:r>
              <a:rPr lang="de-DE" sz="1600" b="1" dirty="0">
                <a:solidFill>
                  <a:schemeClr val="tx1"/>
                </a:solidFill>
              </a:rPr>
              <a:t>, 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}</a:t>
            </a:r>
          </a:p>
          <a:p>
            <a:r>
              <a:rPr lang="de-DE" sz="1600" b="1" dirty="0" err="1">
                <a:solidFill>
                  <a:srgbClr val="00B000"/>
                </a:solidFill>
              </a:rPr>
              <a:t>config_retriever</a:t>
            </a:r>
            <a:r>
              <a:rPr lang="de-DE" sz="1600" b="1" dirty="0">
                <a:solidFill>
                  <a:schemeClr val="tx1"/>
                </a:solidFill>
              </a:rPr>
              <a:t> = {		</a:t>
            </a:r>
            <a:r>
              <a:rPr lang="de-DE" sz="1600" i="1" dirty="0">
                <a:solidFill>
                  <a:schemeClr val="tx1"/>
                </a:solidFill>
              </a:rPr>
              <a:t>(</a:t>
            </a:r>
            <a:r>
              <a:rPr lang="de-DE" sz="1600" i="1" dirty="0" err="1">
                <a:solidFill>
                  <a:schemeClr val="tx1"/>
                </a:solidFill>
              </a:rPr>
              <a:t>custom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top_k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>
                <a:solidFill>
                  <a:schemeClr val="tx1"/>
                </a:solidFill>
              </a:rPr>
              <a:t>15,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similarity_metric</a:t>
            </a:r>
            <a:r>
              <a:rPr lang="de-DE" sz="1600" b="1" dirty="0">
                <a:solidFill>
                  <a:schemeClr val="tx1"/>
                </a:solidFill>
              </a:rPr>
              <a:t> =</a:t>
            </a:r>
            <a:r>
              <a:rPr lang="de-DE" sz="1600" dirty="0">
                <a:solidFill>
                  <a:schemeClr val="tx1"/>
                </a:solidFill>
              </a:rPr>
              <a:t> „</a:t>
            </a:r>
            <a:r>
              <a:rPr lang="de-DE" sz="1600" dirty="0" err="1">
                <a:solidFill>
                  <a:schemeClr val="tx1"/>
                </a:solidFill>
              </a:rPr>
              <a:t>cosine</a:t>
            </a:r>
            <a:r>
              <a:rPr lang="de-DE" sz="1600" dirty="0">
                <a:solidFill>
                  <a:schemeClr val="tx1"/>
                </a:solidFill>
              </a:rPr>
              <a:t>“,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}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</a:t>
            </a:r>
          </a:p>
          <a:p>
            <a:r>
              <a:rPr lang="de-DE" sz="1600" b="1" dirty="0" err="1">
                <a:solidFill>
                  <a:schemeClr val="accent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tx1"/>
                </a:solidFill>
              </a:rPr>
              <a:t>GARAGIndexerConfig</a:t>
            </a:r>
            <a:r>
              <a:rPr lang="de-DE" sz="1600" b="1" dirty="0">
                <a:solidFill>
                  <a:schemeClr val="tx1"/>
                </a:solidFill>
              </a:rPr>
              <a:t>(**</a:t>
            </a:r>
            <a:r>
              <a:rPr lang="de-DE" sz="1600" b="1" dirty="0" err="1">
                <a:solidFill>
                  <a:srgbClr val="00B000"/>
                </a:solidFill>
              </a:rPr>
              <a:t>config_indexer</a:t>
            </a:r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r>
              <a:rPr lang="de-DE" sz="1600" b="1" dirty="0" err="1">
                <a:solidFill>
                  <a:schemeClr val="accent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tx1"/>
                </a:solidFill>
              </a:rPr>
              <a:t>GARAGRetrieverConfig</a:t>
            </a:r>
            <a:r>
              <a:rPr lang="de-DE" sz="1600" b="1" dirty="0">
                <a:solidFill>
                  <a:schemeClr val="tx1"/>
                </a:solidFill>
              </a:rPr>
              <a:t>(**</a:t>
            </a:r>
            <a:r>
              <a:rPr lang="de-DE" sz="1600" b="1" dirty="0" err="1">
                <a:solidFill>
                  <a:srgbClr val="00B000"/>
                </a:solidFill>
              </a:rPr>
              <a:t>config_retriever</a:t>
            </a:r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rgbClr val="5DC1FF"/>
                </a:solidFill>
              </a:rPr>
              <a:t>rag</a:t>
            </a:r>
            <a:r>
              <a:rPr lang="de-DE" sz="1600" b="1" dirty="0">
                <a:solidFill>
                  <a:schemeClr val="tx1"/>
                </a:solidFill>
              </a:rPr>
              <a:t> = RAG(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>
                <a:solidFill>
                  <a:schemeClr val="tx1"/>
                </a:solidFill>
              </a:rPr>
              <a:t>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 err="1">
                <a:solidFill>
                  <a:schemeClr val="tx1"/>
                </a:solidFill>
              </a:rPr>
              <a:t>indexer_name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 err="1">
                <a:solidFill>
                  <a:schemeClr val="tx1"/>
                </a:solidFill>
              </a:rPr>
              <a:t>retriever_name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indexer_config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dirty="0" err="1">
                <a:solidFill>
                  <a:schemeClr val="accent1"/>
                </a:solidFill>
              </a:rPr>
              <a:t>indexer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retriever_config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b="1" dirty="0" err="1">
                <a:solidFill>
                  <a:schemeClr val="accent1"/>
                </a:solidFill>
              </a:rPr>
              <a:t>retriever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>
                <a:solidFill>
                  <a:schemeClr val="tx1"/>
                </a:solidFill>
              </a:rPr>
              <a:t>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37B0FB"/>
                </a:solidFill>
              </a:rPr>
              <a:t>rag</a:t>
            </a:r>
            <a:r>
              <a:rPr lang="de-DE" sz="1600" b="1" dirty="0" err="1">
                <a:solidFill>
                  <a:schemeClr val="tx1"/>
                </a:solidFill>
              </a:rPr>
              <a:t>.</a:t>
            </a:r>
            <a:r>
              <a:rPr lang="de-DE" sz="1600" b="1" dirty="0" err="1">
                <a:solidFill>
                  <a:srgbClr val="00B000"/>
                </a:solidFill>
              </a:rPr>
              <a:t>index</a:t>
            </a:r>
            <a:r>
              <a:rPr lang="de-DE" sz="1600" b="1" dirty="0">
                <a:solidFill>
                  <a:srgbClr val="00B000"/>
                </a:solidFill>
              </a:rPr>
              <a:t>()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answer = </a:t>
            </a:r>
            <a:r>
              <a:rPr lang="en-US" sz="1600" b="1" dirty="0" err="1">
                <a:solidFill>
                  <a:srgbClr val="5DC1FF"/>
                </a:solidFill>
              </a:rPr>
              <a:t>rag</a:t>
            </a:r>
            <a:r>
              <a:rPr lang="en-US" sz="1600" b="1" dirty="0" err="1">
                <a:solidFill>
                  <a:schemeClr val="tx1"/>
                </a:solidFill>
              </a:rPr>
              <a:t>.query</a:t>
            </a:r>
            <a:r>
              <a:rPr lang="en-US" sz="1600" b="1" dirty="0">
                <a:solidFill>
                  <a:schemeClr val="tx1"/>
                </a:solidFill>
              </a:rPr>
              <a:t>("What is the role of X?")</a:t>
            </a:r>
            <a:endParaRPr lang="de-DE" sz="1600" b="1" dirty="0">
              <a:solidFill>
                <a:schemeClr val="tx1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952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5CA59-AE27-B903-C08C-56EC4FB74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D12234-C8A2-1637-1535-E95457583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Instantiation</a:t>
            </a:r>
            <a:r>
              <a:rPr lang="de-DE" dirty="0"/>
              <a:t> Options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39D5348-A622-1744-60DB-181B7468D8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A56AEB07-791E-C553-3F33-1A59A23F2667}"/>
              </a:ext>
            </a:extLst>
          </p:cNvPr>
          <p:cNvSpPr/>
          <p:nvPr/>
        </p:nvSpPr>
        <p:spPr>
          <a:xfrm>
            <a:off x="431557" y="2320506"/>
            <a:ext cx="4889880" cy="446189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600" b="1" dirty="0">
              <a:solidFill>
                <a:schemeClr val="tx1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rgbClr val="5DC1FF"/>
                </a:solidFill>
              </a:rPr>
              <a:t>rag</a:t>
            </a:r>
            <a:r>
              <a:rPr lang="de-DE" sz="1600" b="1" dirty="0">
                <a:solidFill>
                  <a:schemeClr val="tx1"/>
                </a:solidFill>
              </a:rPr>
              <a:t> = RAG(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documents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docs_path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graph_db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db_name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vector_db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db_name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indexer_name</a:t>
            </a:r>
            <a:r>
              <a:rPr lang="de-DE" sz="1600" dirty="0">
                <a:solidFill>
                  <a:schemeClr val="tx1"/>
                </a:solidFill>
              </a:rPr>
              <a:t>,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retriever_name</a:t>
            </a:r>
            <a:r>
              <a:rPr lang="de-DE" sz="1600" dirty="0">
                <a:solidFill>
                  <a:schemeClr val="tx1"/>
                </a:solidFill>
              </a:rPr>
              <a:t>,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llm_index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my_llm</a:t>
            </a:r>
            <a:r>
              <a:rPr lang="de-DE" sz="1600" dirty="0">
                <a:solidFill>
                  <a:schemeClr val="tx1"/>
                </a:solidFill>
              </a:rPr>
              <a:t>,	 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r>
              <a:rPr lang="de-DE" sz="1600" b="1" dirty="0">
                <a:solidFill>
                  <a:schemeClr val="tx1"/>
                </a:solidFill>
              </a:rPr>
              <a:t>              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llm_query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my_llm</a:t>
            </a:r>
            <a:r>
              <a:rPr lang="de-DE" sz="1600" dirty="0">
                <a:solidFill>
                  <a:schemeClr val="tx1"/>
                </a:solidFill>
              </a:rPr>
              <a:t>,	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 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embedding_model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my_emb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37B0FB"/>
                </a:solidFill>
              </a:rPr>
              <a:t>rag</a:t>
            </a:r>
            <a:r>
              <a:rPr lang="de-DE" sz="1600" b="1" dirty="0" err="1">
                <a:solidFill>
                  <a:schemeClr val="tx1"/>
                </a:solidFill>
              </a:rPr>
              <a:t>.</a:t>
            </a:r>
            <a:r>
              <a:rPr lang="de-DE" sz="1600" b="1" dirty="0" err="1">
                <a:solidFill>
                  <a:srgbClr val="00B000"/>
                </a:solidFill>
              </a:rPr>
              <a:t>index</a:t>
            </a:r>
            <a:r>
              <a:rPr lang="de-DE" sz="1600" b="1" dirty="0">
                <a:solidFill>
                  <a:srgbClr val="00B000"/>
                </a:solidFill>
              </a:rPr>
              <a:t>()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answer = </a:t>
            </a:r>
            <a:r>
              <a:rPr lang="en-US" sz="1600" b="1" dirty="0" err="1">
                <a:solidFill>
                  <a:srgbClr val="5DC1FF"/>
                </a:solidFill>
              </a:rPr>
              <a:t>rag</a:t>
            </a:r>
            <a:r>
              <a:rPr lang="en-US" sz="1600" b="1" dirty="0" err="1">
                <a:solidFill>
                  <a:schemeClr val="tx1"/>
                </a:solidFill>
              </a:rPr>
              <a:t>.</a:t>
            </a:r>
            <a:r>
              <a:rPr lang="en-US" sz="1600" b="1" dirty="0" err="1">
                <a:solidFill>
                  <a:srgbClr val="00B000"/>
                </a:solidFill>
              </a:rPr>
              <a:t>query</a:t>
            </a:r>
            <a:r>
              <a:rPr lang="en-US" sz="1600" b="1" dirty="0">
                <a:solidFill>
                  <a:srgbClr val="00B000"/>
                </a:solidFill>
              </a:rPr>
              <a:t>("What is the role of X?")</a:t>
            </a:r>
            <a:endParaRPr lang="de-DE" sz="1600" b="1" dirty="0">
              <a:solidFill>
                <a:srgbClr val="00B000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  <a:p>
            <a:pPr algn="ctr"/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4A53387-2AA5-8D69-575C-6CDDB921FC23}"/>
              </a:ext>
            </a:extLst>
          </p:cNvPr>
          <p:cNvSpPr txBox="1"/>
          <p:nvPr/>
        </p:nvSpPr>
        <p:spPr>
          <a:xfrm>
            <a:off x="2063364" y="1935785"/>
            <a:ext cx="22772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900" b="1" dirty="0"/>
              <a:t>Custom API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EE8BA16-0E76-FABC-3A5E-4D13EA554CE0}"/>
              </a:ext>
            </a:extLst>
          </p:cNvPr>
          <p:cNvSpPr txBox="1"/>
          <p:nvPr/>
        </p:nvSpPr>
        <p:spPr>
          <a:xfrm>
            <a:off x="7380148" y="75600"/>
            <a:ext cx="260691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900" b="1" dirty="0"/>
              <a:t>Custom API Variant 3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7217AEF0-1CE0-13D1-876E-50DE8EA5C85D}"/>
              </a:ext>
            </a:extLst>
          </p:cNvPr>
          <p:cNvSpPr/>
          <p:nvPr/>
        </p:nvSpPr>
        <p:spPr>
          <a:xfrm>
            <a:off x="6096000" y="460321"/>
            <a:ext cx="5014823" cy="632207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00B000"/>
                </a:solidFill>
              </a:rPr>
              <a:t>config_indexer</a:t>
            </a:r>
            <a:r>
              <a:rPr lang="de-DE" sz="1600" b="1" dirty="0">
                <a:solidFill>
                  <a:schemeClr val="tx1"/>
                </a:solidFill>
              </a:rPr>
              <a:t> = {		</a:t>
            </a:r>
            <a:r>
              <a:rPr lang="de-DE" sz="1600" i="1" dirty="0">
                <a:solidFill>
                  <a:schemeClr val="tx1"/>
                </a:solidFill>
              </a:rPr>
              <a:t>(</a:t>
            </a:r>
            <a:r>
              <a:rPr lang="de-DE" sz="1600" i="1" dirty="0" err="1">
                <a:solidFill>
                  <a:schemeClr val="tx1"/>
                </a:solidFill>
              </a:rPr>
              <a:t>custom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chunk_size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chunk_size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chunk_overlap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chunk_overlap</a:t>
            </a:r>
            <a:r>
              <a:rPr lang="de-DE" sz="1600" b="1" dirty="0">
                <a:solidFill>
                  <a:schemeClr val="tx1"/>
                </a:solidFill>
              </a:rPr>
              <a:t>, 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}</a:t>
            </a:r>
          </a:p>
          <a:p>
            <a:r>
              <a:rPr lang="de-DE" sz="1600" b="1" dirty="0" err="1">
                <a:solidFill>
                  <a:srgbClr val="00B000"/>
                </a:solidFill>
              </a:rPr>
              <a:t>config_retriever</a:t>
            </a:r>
            <a:r>
              <a:rPr lang="de-DE" sz="1600" b="1" dirty="0">
                <a:solidFill>
                  <a:schemeClr val="tx1"/>
                </a:solidFill>
              </a:rPr>
              <a:t> = {		</a:t>
            </a:r>
            <a:r>
              <a:rPr lang="de-DE" sz="1600" i="1" dirty="0">
                <a:solidFill>
                  <a:schemeClr val="tx1"/>
                </a:solidFill>
              </a:rPr>
              <a:t>(</a:t>
            </a:r>
            <a:r>
              <a:rPr lang="de-DE" sz="1600" i="1" dirty="0" err="1">
                <a:solidFill>
                  <a:schemeClr val="tx1"/>
                </a:solidFill>
              </a:rPr>
              <a:t>custom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top_k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>
                <a:solidFill>
                  <a:schemeClr val="tx1"/>
                </a:solidFill>
              </a:rPr>
              <a:t>15,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similarity_metric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>
                <a:solidFill>
                  <a:schemeClr val="tx1"/>
                </a:solidFill>
              </a:rPr>
              <a:t>„</a:t>
            </a:r>
            <a:r>
              <a:rPr lang="de-DE" sz="1600" dirty="0" err="1">
                <a:solidFill>
                  <a:schemeClr val="tx1"/>
                </a:solidFill>
              </a:rPr>
              <a:t>cosine</a:t>
            </a:r>
            <a:r>
              <a:rPr lang="de-DE" sz="1600" dirty="0">
                <a:solidFill>
                  <a:schemeClr val="tx1"/>
                </a:solidFill>
              </a:rPr>
              <a:t>“,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}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chemeClr val="accent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tx1"/>
                </a:solidFill>
              </a:rPr>
              <a:t>GARAGIndexer</a:t>
            </a:r>
            <a:r>
              <a:rPr lang="de-DE" sz="1600" b="1" dirty="0">
                <a:solidFill>
                  <a:schemeClr val="tx1"/>
                </a:solidFill>
              </a:rPr>
              <a:t>(**</a:t>
            </a:r>
            <a:r>
              <a:rPr lang="de-DE" sz="1600" b="1" dirty="0" err="1">
                <a:solidFill>
                  <a:srgbClr val="00B000"/>
                </a:solidFill>
              </a:rPr>
              <a:t>config_indexer</a:t>
            </a:r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r>
              <a:rPr lang="de-DE" sz="1600" b="1" dirty="0" err="1">
                <a:solidFill>
                  <a:schemeClr val="accent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tx1"/>
                </a:solidFill>
              </a:rPr>
              <a:t>GARAGRetriever</a:t>
            </a:r>
            <a:r>
              <a:rPr lang="de-DE" sz="1600" b="1" dirty="0">
                <a:solidFill>
                  <a:schemeClr val="tx1"/>
                </a:solidFill>
              </a:rPr>
              <a:t>(**</a:t>
            </a:r>
            <a:r>
              <a:rPr lang="de-DE" sz="1600" b="1" dirty="0" err="1">
                <a:solidFill>
                  <a:srgbClr val="00B000"/>
                </a:solidFill>
              </a:rPr>
              <a:t>config_retriever</a:t>
            </a:r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rgbClr val="5DC1FF"/>
                </a:solidFill>
              </a:rPr>
              <a:t>rag</a:t>
            </a:r>
            <a:r>
              <a:rPr lang="de-DE" sz="1600" b="1" dirty="0">
                <a:solidFill>
                  <a:schemeClr val="tx1"/>
                </a:solidFill>
              </a:rPr>
              <a:t> = RAG(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>
                <a:solidFill>
                  <a:schemeClr val="tx1"/>
                </a:solidFill>
              </a:rPr>
              <a:t>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b="1" dirty="0" err="1">
                <a:solidFill>
                  <a:schemeClr val="accent1"/>
                </a:solidFill>
              </a:rPr>
              <a:t>indexer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b="1" dirty="0" err="1">
                <a:solidFill>
                  <a:schemeClr val="accent1"/>
                </a:solidFill>
              </a:rPr>
              <a:t>retriever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>
                <a:solidFill>
                  <a:schemeClr val="tx1"/>
                </a:solidFill>
              </a:rPr>
              <a:t>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37B0FB"/>
                </a:solidFill>
              </a:rPr>
              <a:t>rag</a:t>
            </a:r>
            <a:r>
              <a:rPr lang="de-DE" sz="1600" b="1" dirty="0" err="1">
                <a:solidFill>
                  <a:schemeClr val="tx1"/>
                </a:solidFill>
              </a:rPr>
              <a:t>.</a:t>
            </a:r>
            <a:r>
              <a:rPr lang="de-DE" sz="1600" b="1" dirty="0" err="1">
                <a:solidFill>
                  <a:srgbClr val="00B000"/>
                </a:solidFill>
              </a:rPr>
              <a:t>index</a:t>
            </a:r>
            <a:r>
              <a:rPr lang="de-DE" sz="1600" b="1" dirty="0">
                <a:solidFill>
                  <a:srgbClr val="00B000"/>
                </a:solidFill>
              </a:rPr>
              <a:t>()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answer = </a:t>
            </a:r>
            <a:r>
              <a:rPr lang="en-US" sz="1600" b="1" dirty="0" err="1">
                <a:solidFill>
                  <a:srgbClr val="5DC1FF"/>
                </a:solidFill>
              </a:rPr>
              <a:t>rag</a:t>
            </a:r>
            <a:r>
              <a:rPr lang="en-US" sz="1600" b="1" dirty="0" err="1">
                <a:solidFill>
                  <a:schemeClr val="tx1"/>
                </a:solidFill>
              </a:rPr>
              <a:t>.query</a:t>
            </a:r>
            <a:r>
              <a:rPr lang="en-US" sz="1600" b="1" dirty="0">
                <a:solidFill>
                  <a:schemeClr val="tx1"/>
                </a:solidFill>
              </a:rPr>
              <a:t>("What is the role of X?")</a:t>
            </a:r>
            <a:endParaRPr lang="de-DE" sz="1600" b="1" dirty="0">
              <a:solidFill>
                <a:schemeClr val="tx1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995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CC929-C53E-6850-DE81-E692ECC52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5A24E7-058B-F306-8E80-9481FA527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Instantiation</a:t>
            </a:r>
            <a:r>
              <a:rPr lang="de-DE" dirty="0"/>
              <a:t> Options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9E98FB-2F74-29DE-F2DF-3C3C18961E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60F4BA29-F778-477D-00D6-A52B6ECC5F3F}"/>
              </a:ext>
            </a:extLst>
          </p:cNvPr>
          <p:cNvSpPr/>
          <p:nvPr/>
        </p:nvSpPr>
        <p:spPr>
          <a:xfrm>
            <a:off x="431557" y="2320506"/>
            <a:ext cx="4889880" cy="4461893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600" b="1" dirty="0">
              <a:solidFill>
                <a:schemeClr val="tx1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rgbClr val="5DC1FF"/>
                </a:solidFill>
              </a:rPr>
              <a:t>rag</a:t>
            </a:r>
            <a:r>
              <a:rPr lang="de-DE" sz="1600" b="1" dirty="0">
                <a:solidFill>
                  <a:schemeClr val="tx1"/>
                </a:solidFill>
              </a:rPr>
              <a:t> = RAG(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documents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docs_path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graph_db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db_name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vector_db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db_name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indexer_name</a:t>
            </a:r>
            <a:r>
              <a:rPr lang="de-DE" sz="1600" dirty="0">
                <a:solidFill>
                  <a:schemeClr val="tx1"/>
                </a:solidFill>
              </a:rPr>
              <a:t>,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retriever_name</a:t>
            </a:r>
            <a:r>
              <a:rPr lang="de-DE" sz="1600" dirty="0">
                <a:solidFill>
                  <a:schemeClr val="tx1"/>
                </a:solidFill>
              </a:rPr>
              <a:t>,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llm_index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my_llm</a:t>
            </a:r>
            <a:r>
              <a:rPr lang="de-DE" sz="1600" dirty="0">
                <a:solidFill>
                  <a:schemeClr val="tx1"/>
                </a:solidFill>
              </a:rPr>
              <a:t>,	 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r>
              <a:rPr lang="de-DE" sz="1600" b="1" dirty="0">
                <a:solidFill>
                  <a:schemeClr val="tx1"/>
                </a:solidFill>
              </a:rPr>
              <a:t>              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llm_query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my_llm</a:t>
            </a:r>
            <a:r>
              <a:rPr lang="de-DE" sz="1600" dirty="0">
                <a:solidFill>
                  <a:schemeClr val="tx1"/>
                </a:solidFill>
              </a:rPr>
              <a:t>,		</a:t>
            </a:r>
            <a:r>
              <a:rPr lang="de-DE" sz="1600" i="1" dirty="0">
                <a:solidFill>
                  <a:schemeClr val="tx1"/>
                </a:solidFill>
              </a:rPr>
              <a:t> (</a:t>
            </a:r>
            <a:r>
              <a:rPr lang="de-DE" sz="1600" i="1" dirty="0" err="1">
                <a:solidFill>
                  <a:schemeClr val="tx1"/>
                </a:solidFill>
              </a:rPr>
              <a:t>default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 </a:t>
            </a:r>
            <a:endParaRPr lang="de-DE" sz="1600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embedding_model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my_emb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37B0FB"/>
                </a:solidFill>
              </a:rPr>
              <a:t>rag</a:t>
            </a:r>
            <a:r>
              <a:rPr lang="de-DE" sz="1600" b="1" dirty="0" err="1">
                <a:solidFill>
                  <a:schemeClr val="tx1"/>
                </a:solidFill>
              </a:rPr>
              <a:t>.</a:t>
            </a:r>
            <a:r>
              <a:rPr lang="de-DE" sz="1600" b="1" dirty="0" err="1">
                <a:solidFill>
                  <a:srgbClr val="00B000"/>
                </a:solidFill>
              </a:rPr>
              <a:t>index</a:t>
            </a:r>
            <a:r>
              <a:rPr lang="de-DE" sz="1600" b="1" dirty="0">
                <a:solidFill>
                  <a:srgbClr val="00B000"/>
                </a:solidFill>
              </a:rPr>
              <a:t>()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answer = </a:t>
            </a:r>
            <a:r>
              <a:rPr lang="en-US" sz="1600" b="1" dirty="0" err="1">
                <a:solidFill>
                  <a:srgbClr val="5DC1FF"/>
                </a:solidFill>
              </a:rPr>
              <a:t>rag</a:t>
            </a:r>
            <a:r>
              <a:rPr lang="en-US" sz="1600" b="1" dirty="0" err="1">
                <a:solidFill>
                  <a:schemeClr val="tx1"/>
                </a:solidFill>
              </a:rPr>
              <a:t>.</a:t>
            </a:r>
            <a:r>
              <a:rPr lang="en-US" sz="1600" b="1" dirty="0" err="1">
                <a:solidFill>
                  <a:srgbClr val="00B000"/>
                </a:solidFill>
              </a:rPr>
              <a:t>query</a:t>
            </a:r>
            <a:r>
              <a:rPr lang="en-US" sz="1600" b="1" dirty="0">
                <a:solidFill>
                  <a:srgbClr val="00B000"/>
                </a:solidFill>
              </a:rPr>
              <a:t>("What is the role of X?")</a:t>
            </a:r>
            <a:endParaRPr lang="de-DE" sz="1600" b="1" dirty="0">
              <a:solidFill>
                <a:srgbClr val="00B000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  <a:p>
            <a:pPr algn="ctr"/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9053B94-64FA-A213-9F06-55BFF066FD73}"/>
              </a:ext>
            </a:extLst>
          </p:cNvPr>
          <p:cNvSpPr txBox="1"/>
          <p:nvPr/>
        </p:nvSpPr>
        <p:spPr>
          <a:xfrm>
            <a:off x="2063364" y="1935785"/>
            <a:ext cx="22772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900" b="1" dirty="0"/>
              <a:t>Custom API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33F61A5-F616-3019-2302-45442BFBD481}"/>
              </a:ext>
            </a:extLst>
          </p:cNvPr>
          <p:cNvSpPr txBox="1"/>
          <p:nvPr/>
        </p:nvSpPr>
        <p:spPr>
          <a:xfrm>
            <a:off x="6984449" y="-51346"/>
            <a:ext cx="260691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900" b="1" dirty="0"/>
              <a:t>Custom API Variant 4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F5A400E-B06D-C03C-3948-B325021E5B1C}"/>
              </a:ext>
            </a:extLst>
          </p:cNvPr>
          <p:cNvSpPr/>
          <p:nvPr/>
        </p:nvSpPr>
        <p:spPr>
          <a:xfrm>
            <a:off x="5464994" y="241540"/>
            <a:ext cx="5645829" cy="661646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00B000"/>
                </a:solidFill>
              </a:rPr>
              <a:t>config_indexer</a:t>
            </a:r>
            <a:r>
              <a:rPr lang="de-DE" sz="1600" b="1" dirty="0">
                <a:solidFill>
                  <a:schemeClr val="tx1"/>
                </a:solidFill>
              </a:rPr>
              <a:t> = {		</a:t>
            </a:r>
            <a:r>
              <a:rPr lang="de-DE" sz="1600" i="1" dirty="0">
                <a:solidFill>
                  <a:schemeClr val="tx1"/>
                </a:solidFill>
              </a:rPr>
              <a:t>(</a:t>
            </a:r>
            <a:r>
              <a:rPr lang="de-DE" sz="1600" i="1" dirty="0" err="1">
                <a:solidFill>
                  <a:schemeClr val="tx1"/>
                </a:solidFill>
              </a:rPr>
              <a:t>custom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chunk_size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chunk_size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chunk_overlap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dirty="0" err="1">
                <a:solidFill>
                  <a:schemeClr val="tx1"/>
                </a:solidFill>
              </a:rPr>
              <a:t>chunk_overlap</a:t>
            </a:r>
            <a:r>
              <a:rPr lang="de-DE" sz="1600" b="1" dirty="0">
                <a:solidFill>
                  <a:schemeClr val="tx1"/>
                </a:solidFill>
              </a:rPr>
              <a:t>, 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}</a:t>
            </a:r>
          </a:p>
          <a:p>
            <a:r>
              <a:rPr lang="de-DE" sz="1600" b="1" dirty="0" err="1">
                <a:solidFill>
                  <a:srgbClr val="00B000"/>
                </a:solidFill>
              </a:rPr>
              <a:t>config_retriever</a:t>
            </a:r>
            <a:r>
              <a:rPr lang="de-DE" sz="1600" b="1" dirty="0">
                <a:solidFill>
                  <a:schemeClr val="tx1"/>
                </a:solidFill>
              </a:rPr>
              <a:t> = {		</a:t>
            </a:r>
            <a:r>
              <a:rPr lang="de-DE" sz="1600" i="1" dirty="0">
                <a:solidFill>
                  <a:schemeClr val="tx1"/>
                </a:solidFill>
              </a:rPr>
              <a:t>(</a:t>
            </a:r>
            <a:r>
              <a:rPr lang="de-DE" sz="1600" i="1" dirty="0" err="1">
                <a:solidFill>
                  <a:schemeClr val="tx1"/>
                </a:solidFill>
              </a:rPr>
              <a:t>custom</a:t>
            </a:r>
            <a:r>
              <a:rPr lang="de-DE" sz="1600" i="1" dirty="0">
                <a:solidFill>
                  <a:schemeClr val="tx1"/>
                </a:solidFill>
              </a:rPr>
              <a:t> </a:t>
            </a:r>
            <a:r>
              <a:rPr lang="de-DE" sz="1600" i="1" dirty="0" err="1">
                <a:solidFill>
                  <a:schemeClr val="tx1"/>
                </a:solidFill>
              </a:rPr>
              <a:t>config</a:t>
            </a:r>
            <a:r>
              <a:rPr lang="de-DE" sz="1600" i="1" dirty="0">
                <a:solidFill>
                  <a:schemeClr val="tx1"/>
                </a:solidFill>
              </a:rPr>
              <a:t>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top_k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>
                <a:solidFill>
                  <a:schemeClr val="tx1"/>
                </a:solidFill>
              </a:rPr>
              <a:t>15,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similarity_metric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dirty="0">
                <a:solidFill>
                  <a:schemeClr val="tx1"/>
                </a:solidFill>
              </a:rPr>
              <a:t>„</a:t>
            </a:r>
            <a:r>
              <a:rPr lang="de-DE" sz="1600" dirty="0" err="1">
                <a:solidFill>
                  <a:schemeClr val="tx1"/>
                </a:solidFill>
              </a:rPr>
              <a:t>cosine</a:t>
            </a:r>
            <a:r>
              <a:rPr lang="de-DE" sz="1600" dirty="0">
                <a:solidFill>
                  <a:schemeClr val="tx1"/>
                </a:solidFill>
              </a:rPr>
              <a:t>“,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}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chemeClr val="accent2">
                    <a:lumMod val="50000"/>
                  </a:schemeClr>
                </a:solidFill>
              </a:rPr>
              <a:t>indexer_cfg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tx1"/>
                </a:solidFill>
              </a:rPr>
              <a:t>GARAGIndexerConfig</a:t>
            </a:r>
            <a:r>
              <a:rPr lang="de-DE" sz="1600" b="1" dirty="0">
                <a:solidFill>
                  <a:schemeClr val="tx1"/>
                </a:solidFill>
              </a:rPr>
              <a:t>(**</a:t>
            </a:r>
            <a:r>
              <a:rPr lang="de-DE" sz="1600" b="1" dirty="0" err="1">
                <a:solidFill>
                  <a:srgbClr val="00B000"/>
                </a:solidFill>
              </a:rPr>
              <a:t>config_indexer</a:t>
            </a:r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r>
              <a:rPr lang="de-DE" sz="1600" b="1" dirty="0" err="1">
                <a:solidFill>
                  <a:schemeClr val="accent2">
                    <a:lumMod val="50000"/>
                  </a:schemeClr>
                </a:solidFill>
              </a:rPr>
              <a:t>retriever_cfg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tx1"/>
                </a:solidFill>
              </a:rPr>
              <a:t>GARAGRetrieverConfig</a:t>
            </a:r>
            <a:r>
              <a:rPr lang="de-DE" sz="1600" b="1" dirty="0">
                <a:solidFill>
                  <a:schemeClr val="tx1"/>
                </a:solidFill>
              </a:rPr>
              <a:t>(**</a:t>
            </a:r>
            <a:r>
              <a:rPr lang="de-DE" sz="1600" b="1" dirty="0" err="1">
                <a:solidFill>
                  <a:srgbClr val="00B000"/>
                </a:solidFill>
              </a:rPr>
              <a:t>config_retriever</a:t>
            </a:r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chemeClr val="accent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tx1"/>
                </a:solidFill>
              </a:rPr>
              <a:t>GARAGIndexer</a:t>
            </a:r>
            <a:r>
              <a:rPr lang="de-DE" sz="1600" b="1" dirty="0">
                <a:solidFill>
                  <a:schemeClr val="tx1"/>
                </a:solidFill>
              </a:rPr>
              <a:t>(</a:t>
            </a:r>
            <a:r>
              <a:rPr lang="de-DE" sz="1600" b="1" dirty="0" err="1">
                <a:solidFill>
                  <a:schemeClr val="tx1"/>
                </a:solidFill>
              </a:rPr>
              <a:t>config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accent2">
                    <a:lumMod val="50000"/>
                  </a:schemeClr>
                </a:solidFill>
              </a:rPr>
              <a:t>indexer_cfg</a:t>
            </a:r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r>
              <a:rPr lang="de-DE" sz="1600" b="1" dirty="0" err="1">
                <a:solidFill>
                  <a:schemeClr val="accent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tx1"/>
                </a:solidFill>
              </a:rPr>
              <a:t>GARAGRetriever</a:t>
            </a:r>
            <a:r>
              <a:rPr lang="de-DE" sz="1600" b="1" dirty="0">
                <a:solidFill>
                  <a:schemeClr val="tx1"/>
                </a:solidFill>
              </a:rPr>
              <a:t>(</a:t>
            </a:r>
            <a:r>
              <a:rPr lang="de-DE" sz="1600" b="1" dirty="0" err="1">
                <a:solidFill>
                  <a:schemeClr val="tx1"/>
                </a:solidFill>
              </a:rPr>
              <a:t>config</a:t>
            </a:r>
            <a:r>
              <a:rPr lang="de-DE" sz="1600" b="1" dirty="0">
                <a:solidFill>
                  <a:schemeClr val="tx1"/>
                </a:solidFill>
              </a:rPr>
              <a:t> = </a:t>
            </a:r>
            <a:r>
              <a:rPr lang="de-DE" sz="1600" b="1" dirty="0" err="1">
                <a:solidFill>
                  <a:schemeClr val="accent2">
                    <a:lumMod val="50000"/>
                  </a:schemeClr>
                </a:solidFill>
              </a:rPr>
              <a:t>indexer_cfg</a:t>
            </a:r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>
                <a:solidFill>
                  <a:srgbClr val="5DC1FF"/>
                </a:solidFill>
              </a:rPr>
              <a:t>rag</a:t>
            </a:r>
            <a:r>
              <a:rPr lang="de-DE" sz="1600" b="1" dirty="0">
                <a:solidFill>
                  <a:schemeClr val="tx1"/>
                </a:solidFill>
              </a:rPr>
              <a:t> = RAG(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>
                <a:solidFill>
                  <a:schemeClr val="tx1"/>
                </a:solidFill>
              </a:rPr>
              <a:t>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indexer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b="1" dirty="0" err="1">
                <a:solidFill>
                  <a:schemeClr val="accent1"/>
                </a:solidFill>
              </a:rPr>
              <a:t>indexer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 err="1">
                <a:solidFill>
                  <a:schemeClr val="tx1"/>
                </a:solidFill>
              </a:rPr>
              <a:t>retriever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dirty="0">
                <a:solidFill>
                  <a:schemeClr val="tx1"/>
                </a:solidFill>
              </a:rPr>
              <a:t>= </a:t>
            </a:r>
            <a:r>
              <a:rPr lang="de-DE" sz="1600" b="1" dirty="0" err="1">
                <a:solidFill>
                  <a:schemeClr val="accent1"/>
                </a:solidFill>
              </a:rPr>
              <a:t>retriever</a:t>
            </a:r>
            <a:r>
              <a:rPr lang="de-DE" sz="1600" dirty="0">
                <a:solidFill>
                  <a:schemeClr val="tx1"/>
                </a:solidFill>
              </a:rPr>
              <a:t>,</a:t>
            </a:r>
          </a:p>
          <a:p>
            <a:r>
              <a:rPr lang="de-DE" sz="1600" dirty="0">
                <a:solidFill>
                  <a:schemeClr val="tx1"/>
                </a:solidFill>
              </a:rPr>
              <a:t>  </a:t>
            </a:r>
            <a:r>
              <a:rPr lang="de-DE" sz="1600" b="1" dirty="0">
                <a:solidFill>
                  <a:schemeClr val="tx1"/>
                </a:solidFill>
              </a:rPr>
              <a:t>…</a:t>
            </a:r>
          </a:p>
          <a:p>
            <a:r>
              <a:rPr lang="de-DE" sz="1600" b="1" dirty="0">
                <a:solidFill>
                  <a:schemeClr val="tx1"/>
                </a:solidFill>
              </a:rPr>
              <a:t>)</a:t>
            </a:r>
          </a:p>
          <a:p>
            <a:endParaRPr lang="de-DE" sz="1600" b="1" dirty="0">
              <a:solidFill>
                <a:schemeClr val="tx1"/>
              </a:solidFill>
            </a:endParaRPr>
          </a:p>
          <a:p>
            <a:r>
              <a:rPr lang="de-DE" sz="1600" b="1" dirty="0" err="1">
                <a:solidFill>
                  <a:srgbClr val="37B0FB"/>
                </a:solidFill>
              </a:rPr>
              <a:t>rag</a:t>
            </a:r>
            <a:r>
              <a:rPr lang="de-DE" sz="1600" b="1" dirty="0" err="1">
                <a:solidFill>
                  <a:schemeClr val="tx1"/>
                </a:solidFill>
              </a:rPr>
              <a:t>.</a:t>
            </a:r>
            <a:r>
              <a:rPr lang="de-DE" sz="1600" b="1" dirty="0" err="1">
                <a:solidFill>
                  <a:srgbClr val="00B000"/>
                </a:solidFill>
              </a:rPr>
              <a:t>index</a:t>
            </a:r>
            <a:r>
              <a:rPr lang="de-DE" sz="1600" b="1" dirty="0">
                <a:solidFill>
                  <a:srgbClr val="00B000"/>
                </a:solidFill>
              </a:rPr>
              <a:t>()</a:t>
            </a:r>
            <a:endParaRPr lang="de-DE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answer = </a:t>
            </a:r>
            <a:r>
              <a:rPr lang="en-US" sz="1600" b="1" dirty="0" err="1">
                <a:solidFill>
                  <a:srgbClr val="5DC1FF"/>
                </a:solidFill>
              </a:rPr>
              <a:t>rag</a:t>
            </a:r>
            <a:r>
              <a:rPr lang="en-US" sz="1600" b="1" dirty="0" err="1">
                <a:solidFill>
                  <a:schemeClr val="tx1"/>
                </a:solidFill>
              </a:rPr>
              <a:t>.query</a:t>
            </a:r>
            <a:r>
              <a:rPr lang="en-US" sz="1600" b="1" dirty="0">
                <a:solidFill>
                  <a:schemeClr val="tx1"/>
                </a:solidFill>
              </a:rPr>
              <a:t>("What is the role of X?")</a:t>
            </a:r>
            <a:endParaRPr lang="de-DE" sz="1600" b="1" dirty="0">
              <a:solidFill>
                <a:schemeClr val="tx1"/>
              </a:solidFill>
            </a:endParaRPr>
          </a:p>
          <a:p>
            <a:endParaRPr lang="de-DE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046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AEA0E2-D2D4-4AB8-BF12-E292CF71D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333" y="17219"/>
            <a:ext cx="10056093" cy="985286"/>
          </a:xfrm>
        </p:spPr>
        <p:txBody>
          <a:bodyPr/>
          <a:lstStyle/>
          <a:p>
            <a:r>
              <a:rPr lang="de-DE" dirty="0" err="1"/>
              <a:t>Adding</a:t>
            </a:r>
            <a:r>
              <a:rPr lang="de-DE" dirty="0"/>
              <a:t> New </a:t>
            </a:r>
            <a:r>
              <a:rPr lang="de-DE" dirty="0" err="1"/>
              <a:t>Indexing</a:t>
            </a:r>
            <a:r>
              <a:rPr lang="de-DE" dirty="0"/>
              <a:t> &amp; Retrieval </a:t>
            </a:r>
            <a:r>
              <a:rPr lang="de-DE" dirty="0" err="1"/>
              <a:t>Techniques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21DD081-42DD-4DD0-B06E-7BF539815A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EDA7FBB-B3D9-4A77-9EDA-1F79788CE7FC}"/>
              </a:ext>
            </a:extLst>
          </p:cNvPr>
          <p:cNvSpPr/>
          <p:nvPr/>
        </p:nvSpPr>
        <p:spPr>
          <a:xfrm>
            <a:off x="6924047" y="1113626"/>
            <a:ext cx="42346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B000"/>
                </a:solidFill>
              </a:rPr>
              <a:t>New techniques can be easily added trough “Indexer” &amp; “Retriever” classes</a:t>
            </a:r>
            <a:endParaRPr lang="de-DE" sz="1500" b="1" dirty="0">
              <a:solidFill>
                <a:srgbClr val="00B000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06F6E7D-4E4E-4332-A5BB-048EE0747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33" y="530900"/>
            <a:ext cx="6018612" cy="62735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027C173-5F2F-4881-A673-0A765403E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007" y="2098911"/>
            <a:ext cx="4315110" cy="205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50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AEA0E2-D2D4-4AB8-BF12-E292CF71D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333" y="17219"/>
            <a:ext cx="10056093" cy="985286"/>
          </a:xfrm>
        </p:spPr>
        <p:txBody>
          <a:bodyPr/>
          <a:lstStyle/>
          <a:p>
            <a:r>
              <a:rPr lang="de-DE" dirty="0" err="1"/>
              <a:t>Adding</a:t>
            </a:r>
            <a:r>
              <a:rPr lang="de-DE" dirty="0"/>
              <a:t> New </a:t>
            </a:r>
            <a:r>
              <a:rPr lang="de-DE" dirty="0" err="1"/>
              <a:t>Indexing</a:t>
            </a:r>
            <a:r>
              <a:rPr lang="de-DE" dirty="0"/>
              <a:t> &amp; Retrieval </a:t>
            </a:r>
            <a:r>
              <a:rPr lang="de-DE" dirty="0" err="1"/>
              <a:t>Techniques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21DD081-42DD-4DD0-B06E-7BF539815A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EDA7FBB-B3D9-4A77-9EDA-1F79788CE7FC}"/>
              </a:ext>
            </a:extLst>
          </p:cNvPr>
          <p:cNvSpPr/>
          <p:nvPr/>
        </p:nvSpPr>
        <p:spPr>
          <a:xfrm>
            <a:off x="6924047" y="1113626"/>
            <a:ext cx="42346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B000"/>
                </a:solidFill>
              </a:rPr>
              <a:t>New techniques can be easily added trough “Indexer” &amp; “Retriever” classes</a:t>
            </a:r>
            <a:endParaRPr lang="de-DE" sz="1500" b="1" dirty="0">
              <a:solidFill>
                <a:srgbClr val="00B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6B4E22F-7982-4E2C-9510-936058D54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32" y="509862"/>
            <a:ext cx="5400119" cy="633091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6D0736F-4AA4-4523-96D5-E8ECA4FD1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800" y="2088910"/>
            <a:ext cx="4718911" cy="207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30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DLR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00658B"/>
      </a:accent1>
      <a:accent2>
        <a:srgbClr val="F8DE53"/>
      </a:accent2>
      <a:accent3>
        <a:srgbClr val="0094A8"/>
      </a:accent3>
      <a:accent4>
        <a:srgbClr val="B7D260"/>
      </a:accent4>
      <a:accent5>
        <a:srgbClr val="5F98CB"/>
      </a:accent5>
      <a:accent6>
        <a:srgbClr val="B1B1B1"/>
      </a:accent6>
      <a:hlink>
        <a:srgbClr val="00B0F0"/>
      </a:hlink>
      <a:folHlink>
        <a:srgbClr val="00658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3">
          <a:schemeClr val="accent4"/>
        </a:lnRef>
        <a:fillRef idx="0">
          <a:schemeClr val="accent4"/>
        </a:fillRef>
        <a:effectRef idx="2">
          <a:schemeClr val="accent4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3A8CC32A056AE47942682173C0DE9CE" ma:contentTypeVersion="7" ma:contentTypeDescription="Ein neues Dokument erstellen." ma:contentTypeScope="" ma:versionID="805142680efd2dff13456da6ca9dfc7f">
  <xsd:schema xmlns:xsd="http://www.w3.org/2001/XMLSchema" xmlns:xs="http://www.w3.org/2001/XMLSchema" xmlns:p="http://schemas.microsoft.com/office/2006/metadata/properties" xmlns:ns2="2acd48d8-921c-4259-8a3d-b0781ba679a3" targetNamespace="http://schemas.microsoft.com/office/2006/metadata/properties" ma:root="true" ma:fieldsID="e8b519347e20ca2acbfa3ff94d80d67f" ns2:_="">
    <xsd:import namespace="2acd48d8-921c-4259-8a3d-b0781ba679a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cd48d8-921c-4259-8a3d-b0781ba679a3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2acd48d8-921c-4259-8a3d-b0781ba679a3" xsi:nil="true"/>
    <_dlc_DocIdUrl xmlns="2acd48d8-921c-4259-8a3d-b0781ba679a3">
      <Url xsi:nil="true"/>
      <Description xsi:nil="true"/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6EE02B-B437-43F6-B2C7-39F7AD8F2C59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8456D233-F5BA-4675-A38F-FE0D57B16A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cd48d8-921c-4259-8a3d-b0781ba679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0A32AB-02F0-425F-928E-552BB75E114E}">
  <ds:schemaRefs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2acd48d8-921c-4259-8a3d-b0781ba679a3"/>
    <ds:schemaRef ds:uri="http://purl.org/dc/elements/1.1/"/>
  </ds:schemaRefs>
</ds:datastoreItem>
</file>

<file path=customXml/itemProps4.xml><?xml version="1.0" encoding="utf-8"?>
<ds:datastoreItem xmlns:ds="http://schemas.openxmlformats.org/officeDocument/2006/customXml" ds:itemID="{E4A28F3F-6E65-436B-A186-A7788ECFE8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1921</Words>
  <Application>Microsoft Office PowerPoint</Application>
  <PresentationFormat>Breitbild</PresentationFormat>
  <Paragraphs>340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Wingdings</vt:lpstr>
      <vt:lpstr>Office</vt:lpstr>
      <vt:lpstr>RAGLIB Project</vt:lpstr>
      <vt:lpstr>Project Structure</vt:lpstr>
      <vt:lpstr>Project Structure</vt:lpstr>
      <vt:lpstr>Project Structure</vt:lpstr>
      <vt:lpstr>Project Structure</vt:lpstr>
      <vt:lpstr>RAGLib Framewok Design</vt:lpstr>
      <vt:lpstr>High-Level Architecture</vt:lpstr>
      <vt:lpstr>Indexer &amp; Query Engines</vt:lpstr>
      <vt:lpstr>PowerPoint-Präsentation</vt:lpstr>
      <vt:lpstr>PowerPoint-Präsentation</vt:lpstr>
      <vt:lpstr>PowerPoint-Präsentation</vt:lpstr>
      <vt:lpstr>PowerPoint-Präsentation</vt:lpstr>
      <vt:lpstr>Instantiation Options</vt:lpstr>
      <vt:lpstr>Instantiation Options</vt:lpstr>
      <vt:lpstr>Instantiation Options</vt:lpstr>
      <vt:lpstr>Instantiation Options</vt:lpstr>
      <vt:lpstr>Adding New Indexing &amp; Retrieval Techniques</vt:lpstr>
      <vt:lpstr>Adding New Indexing &amp; Retrieval Techniques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danyel</dc:creator>
  <cp:lastModifiedBy>Koc, Onur</cp:lastModifiedBy>
  <cp:revision>376</cp:revision>
  <dcterms:created xsi:type="dcterms:W3CDTF">2022-03-24T21:12:41Z</dcterms:created>
  <dcterms:modified xsi:type="dcterms:W3CDTF">2025-08-11T02:55:23Z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0x010100E3A8CC32A056AE47942682173C0DE9CE</vt:lpwstr>
  </property>
  <property fmtid="{D5CDD505-2E9C-101B-9397-08002B2CF9AE}" pid="3" name="_dlc_DocIdItemGuid">
    <vt:lpwstr>62de38c1-50d7-433c-88af-8de674770d82</vt:lpwstr>
  </property>
</Properties>
</file>